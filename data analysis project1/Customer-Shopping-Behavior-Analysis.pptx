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Montserrat"/>
      <p:regular r:id="rId17"/>
    </p:embeddedFont>
    <p:embeddedFont>
      <p:font typeface="Montserrat"/>
      <p:regular r:id="rId18"/>
    </p:embeddedFont>
    <p:embeddedFont>
      <p:font typeface="Montserrat"/>
      <p:regular r:id="rId19"/>
    </p:embeddedFont>
    <p:embeddedFont>
      <p:font typeface="Montserrat"/>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9.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slideLayout" Target="../slideLayouts/slideLayout11.xml"/><Relationship Id="rId1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2837140"/>
            <a:ext cx="7556421" cy="1483519"/>
          </a:xfrm>
          <a:prstGeom prst="rect">
            <a:avLst/>
          </a:prstGeom>
          <a:noFill/>
          <a:ln/>
        </p:spPr>
        <p:txBody>
          <a:bodyPr wrap="square" lIns="0" tIns="0" rIns="0" bIns="0" rtlCol="0" anchor="t"/>
          <a:lstStyle/>
          <a:p>
            <a:pPr algn="l" indent="0" marL="0">
              <a:lnSpc>
                <a:spcPts val="5800"/>
              </a:lnSpc>
              <a:buNone/>
            </a:pPr>
            <a:r>
              <a:rPr lang="en-US" sz="4450" dirty="0">
                <a:solidFill>
                  <a:srgbClr val="532418"/>
                </a:solidFill>
                <a:latin typeface="Marcellus" pitchFamily="34" charset="0"/>
                <a:ea typeface="Marcellus" pitchFamily="34" charset="-122"/>
                <a:cs typeface="Marcellus" pitchFamily="34" charset="-120"/>
              </a:rPr>
              <a:t>Customer Shopping Behavior Analysis</a:t>
            </a:r>
            <a:endParaRPr lang="en-US" sz="4450" dirty="0"/>
          </a:p>
        </p:txBody>
      </p:sp>
      <p:sp>
        <p:nvSpPr>
          <p:cNvPr id="4" name="Text 1"/>
          <p:cNvSpPr/>
          <p:nvPr/>
        </p:nvSpPr>
        <p:spPr>
          <a:xfrm>
            <a:off x="6280190" y="4618315"/>
            <a:ext cx="7556421" cy="774025"/>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Uncovering insights from 3,900 purchases to guide strategic business decisions through data-driven analysis of spending patterns, customer segments, and product preferences.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Shape 0"/>
          <p:cNvSpPr/>
          <p:nvPr/>
        </p:nvSpPr>
        <p:spPr>
          <a:xfrm>
            <a:off x="6280190" y="1132165"/>
            <a:ext cx="2146102" cy="325517"/>
          </a:xfrm>
          <a:prstGeom prst="roundRect">
            <a:avLst>
              <a:gd name="adj" fmla="val 20487"/>
            </a:avLst>
          </a:prstGeom>
          <a:solidFill>
            <a:srgbClr val="FFE0CC"/>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99252" y="1215509"/>
            <a:ext cx="158710" cy="158710"/>
          </a:xfrm>
          <a:prstGeom prst="rect">
            <a:avLst/>
          </a:prstGeom>
        </p:spPr>
      </p:pic>
      <p:sp>
        <p:nvSpPr>
          <p:cNvPr id="5" name="Text 1"/>
          <p:cNvSpPr/>
          <p:nvPr/>
        </p:nvSpPr>
        <p:spPr>
          <a:xfrm>
            <a:off x="6637258" y="1191697"/>
            <a:ext cx="1669971" cy="206454"/>
          </a:xfrm>
          <a:prstGeom prst="rect">
            <a:avLst/>
          </a:prstGeom>
          <a:noFill/>
          <a:ln/>
        </p:spPr>
        <p:txBody>
          <a:bodyPr wrap="none" lIns="0" tIns="0" rIns="0" bIns="0" rtlCol="0" anchor="t"/>
          <a:lstStyle/>
          <a:p>
            <a:pPr algn="l" indent="0" marL="0">
              <a:lnSpc>
                <a:spcPts val="1600"/>
              </a:lnSpc>
              <a:buNone/>
            </a:pPr>
            <a:r>
              <a:rPr lang="en-US" sz="1250" dirty="0">
                <a:solidFill>
                  <a:srgbClr val="67534F"/>
                </a:solidFill>
                <a:latin typeface="Montserrat" pitchFamily="34" charset="0"/>
                <a:ea typeface="Montserrat" pitchFamily="34" charset="-122"/>
                <a:cs typeface="Montserrat" pitchFamily="34" charset="-120"/>
              </a:rPr>
              <a:t>DATASET OVERVIEW</a:t>
            </a:r>
            <a:endParaRPr lang="en-US" sz="1250" dirty="0"/>
          </a:p>
        </p:txBody>
      </p:sp>
      <p:sp>
        <p:nvSpPr>
          <p:cNvPr id="6" name="Text 2"/>
          <p:cNvSpPr/>
          <p:nvPr/>
        </p:nvSpPr>
        <p:spPr>
          <a:xfrm>
            <a:off x="6280190" y="1536978"/>
            <a:ext cx="7556421" cy="1483519"/>
          </a:xfrm>
          <a:prstGeom prst="rect">
            <a:avLst/>
          </a:prstGeom>
          <a:noFill/>
          <a:ln/>
        </p:spPr>
        <p:txBody>
          <a:bodyPr wrap="square" lIns="0" tIns="0" rIns="0" bIns="0" rtlCol="0" anchor="t"/>
          <a:lstStyle/>
          <a:p>
            <a:pPr algn="l" indent="0" marL="0">
              <a:lnSpc>
                <a:spcPts val="5800"/>
              </a:lnSpc>
              <a:buNone/>
            </a:pPr>
            <a:r>
              <a:rPr lang="en-US" sz="4450" dirty="0">
                <a:solidFill>
                  <a:srgbClr val="532418"/>
                </a:solidFill>
                <a:latin typeface="Marcellus" pitchFamily="34" charset="0"/>
                <a:ea typeface="Marcellus" pitchFamily="34" charset="-122"/>
                <a:cs typeface="Marcellus" pitchFamily="34" charset="-120"/>
              </a:rPr>
              <a:t>Understanding Our Data Foundation</a:t>
            </a:r>
            <a:endParaRPr lang="en-US" sz="4450" dirty="0"/>
          </a:p>
        </p:txBody>
      </p:sp>
      <p:sp>
        <p:nvSpPr>
          <p:cNvPr id="7" name="Text 3"/>
          <p:cNvSpPr/>
          <p:nvPr/>
        </p:nvSpPr>
        <p:spPr>
          <a:xfrm>
            <a:off x="6280190" y="3417332"/>
            <a:ext cx="2353389" cy="654963"/>
          </a:xfrm>
          <a:prstGeom prst="rect">
            <a:avLst/>
          </a:prstGeom>
          <a:noFill/>
          <a:ln/>
        </p:spPr>
        <p:txBody>
          <a:bodyPr wrap="none" lIns="0" tIns="0" rIns="0" bIns="0" rtlCol="0" anchor="t"/>
          <a:lstStyle/>
          <a:p>
            <a:pPr algn="ctr" indent="0" marL="0">
              <a:lnSpc>
                <a:spcPts val="5150"/>
              </a:lnSpc>
              <a:buNone/>
            </a:pPr>
            <a:r>
              <a:rPr lang="en-US" sz="5150" dirty="0">
                <a:solidFill>
                  <a:srgbClr val="67534F"/>
                </a:solidFill>
                <a:latin typeface="Marcellus" pitchFamily="34" charset="0"/>
                <a:ea typeface="Marcellus" pitchFamily="34" charset="-122"/>
                <a:cs typeface="Marcellus" pitchFamily="34" charset="-120"/>
              </a:rPr>
              <a:t>3.9k</a:t>
            </a:r>
            <a:endParaRPr lang="en-US" sz="5150" dirty="0"/>
          </a:p>
        </p:txBody>
      </p:sp>
      <p:sp>
        <p:nvSpPr>
          <p:cNvPr id="8" name="Text 4"/>
          <p:cNvSpPr/>
          <p:nvPr/>
        </p:nvSpPr>
        <p:spPr>
          <a:xfrm>
            <a:off x="6280190" y="4320302"/>
            <a:ext cx="2353389" cy="370761"/>
          </a:xfrm>
          <a:prstGeom prst="rect">
            <a:avLst/>
          </a:prstGeom>
          <a:noFill/>
          <a:ln/>
        </p:spPr>
        <p:txBody>
          <a:bodyPr wrap="none" lIns="0" tIns="0" rIns="0" bIns="0" rtlCol="0" anchor="t"/>
          <a:lstStyle/>
          <a:p>
            <a:pPr algn="ctr" indent="0" marL="0">
              <a:lnSpc>
                <a:spcPts val="2900"/>
              </a:lnSpc>
              <a:buNone/>
            </a:pPr>
            <a:r>
              <a:rPr lang="en-US" sz="2200" dirty="0">
                <a:solidFill>
                  <a:srgbClr val="67534F"/>
                </a:solidFill>
                <a:latin typeface="Marcellus" pitchFamily="34" charset="0"/>
                <a:ea typeface="Marcellus" pitchFamily="34" charset="-122"/>
                <a:cs typeface="Marcellus" pitchFamily="34" charset="-120"/>
              </a:rPr>
              <a:t>Total Purchases</a:t>
            </a:r>
            <a:endParaRPr lang="en-US" sz="2200" dirty="0"/>
          </a:p>
        </p:txBody>
      </p:sp>
      <p:sp>
        <p:nvSpPr>
          <p:cNvPr id="9" name="Text 5"/>
          <p:cNvSpPr/>
          <p:nvPr/>
        </p:nvSpPr>
        <p:spPr>
          <a:xfrm>
            <a:off x="6280190" y="4810125"/>
            <a:ext cx="2353389" cy="774025"/>
          </a:xfrm>
          <a:prstGeom prst="rect">
            <a:avLst/>
          </a:prstGeom>
          <a:noFill/>
          <a:ln/>
        </p:spPr>
        <p:txBody>
          <a:bodyPr wrap="square" lIns="0" tIns="0" rIns="0" bIns="0" rtlCol="0" anchor="t"/>
          <a:lstStyle/>
          <a:p>
            <a:pPr algn="ctr"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Comprehensive transaction records analyzed</a:t>
            </a:r>
            <a:endParaRPr lang="en-US" sz="1550" dirty="0"/>
          </a:p>
        </p:txBody>
      </p:sp>
      <p:sp>
        <p:nvSpPr>
          <p:cNvPr id="10" name="Text 6"/>
          <p:cNvSpPr/>
          <p:nvPr/>
        </p:nvSpPr>
        <p:spPr>
          <a:xfrm>
            <a:off x="8881586" y="3417332"/>
            <a:ext cx="2353508" cy="654963"/>
          </a:xfrm>
          <a:prstGeom prst="rect">
            <a:avLst/>
          </a:prstGeom>
          <a:noFill/>
          <a:ln/>
        </p:spPr>
        <p:txBody>
          <a:bodyPr wrap="none" lIns="0" tIns="0" rIns="0" bIns="0" rtlCol="0" anchor="t"/>
          <a:lstStyle/>
          <a:p>
            <a:pPr algn="ctr" indent="0" marL="0">
              <a:lnSpc>
                <a:spcPts val="5150"/>
              </a:lnSpc>
              <a:buNone/>
            </a:pPr>
            <a:r>
              <a:rPr lang="en-US" sz="5150" dirty="0">
                <a:solidFill>
                  <a:srgbClr val="67534F"/>
                </a:solidFill>
                <a:latin typeface="Marcellus" pitchFamily="34" charset="0"/>
                <a:ea typeface="Marcellus" pitchFamily="34" charset="-122"/>
                <a:cs typeface="Marcellus" pitchFamily="34" charset="-120"/>
              </a:rPr>
              <a:t>18</a:t>
            </a:r>
            <a:endParaRPr lang="en-US" sz="5150" dirty="0"/>
          </a:p>
        </p:txBody>
      </p:sp>
      <p:sp>
        <p:nvSpPr>
          <p:cNvPr id="11" name="Text 7"/>
          <p:cNvSpPr/>
          <p:nvPr/>
        </p:nvSpPr>
        <p:spPr>
          <a:xfrm>
            <a:off x="8881586" y="4320302"/>
            <a:ext cx="2353508" cy="370761"/>
          </a:xfrm>
          <a:prstGeom prst="rect">
            <a:avLst/>
          </a:prstGeom>
          <a:noFill/>
          <a:ln/>
        </p:spPr>
        <p:txBody>
          <a:bodyPr wrap="none" lIns="0" tIns="0" rIns="0" bIns="0" rtlCol="0" anchor="t"/>
          <a:lstStyle/>
          <a:p>
            <a:pPr algn="ctr" indent="0" marL="0">
              <a:lnSpc>
                <a:spcPts val="2900"/>
              </a:lnSpc>
              <a:buNone/>
            </a:pPr>
            <a:r>
              <a:rPr lang="en-US" sz="2200" dirty="0">
                <a:solidFill>
                  <a:srgbClr val="67534F"/>
                </a:solidFill>
                <a:latin typeface="Marcellus" pitchFamily="34" charset="0"/>
                <a:ea typeface="Marcellus" pitchFamily="34" charset="-122"/>
                <a:cs typeface="Marcellus" pitchFamily="34" charset="-120"/>
              </a:rPr>
              <a:t>Data Columns</a:t>
            </a:r>
            <a:endParaRPr lang="en-US" sz="2200" dirty="0"/>
          </a:p>
        </p:txBody>
      </p:sp>
      <p:sp>
        <p:nvSpPr>
          <p:cNvPr id="12" name="Text 8"/>
          <p:cNvSpPr/>
          <p:nvPr/>
        </p:nvSpPr>
        <p:spPr>
          <a:xfrm>
            <a:off x="8881586" y="4810125"/>
            <a:ext cx="2353508" cy="774025"/>
          </a:xfrm>
          <a:prstGeom prst="rect">
            <a:avLst/>
          </a:prstGeom>
          <a:noFill/>
          <a:ln/>
        </p:spPr>
        <p:txBody>
          <a:bodyPr wrap="square" lIns="0" tIns="0" rIns="0" bIns="0" rtlCol="0" anchor="t"/>
          <a:lstStyle/>
          <a:p>
            <a:pPr algn="ctr"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Rich feature set covering demographics and behavior</a:t>
            </a:r>
            <a:endParaRPr lang="en-US" sz="1550" dirty="0"/>
          </a:p>
        </p:txBody>
      </p:sp>
      <p:sp>
        <p:nvSpPr>
          <p:cNvPr id="13" name="Text 9"/>
          <p:cNvSpPr/>
          <p:nvPr/>
        </p:nvSpPr>
        <p:spPr>
          <a:xfrm>
            <a:off x="11483102" y="3417332"/>
            <a:ext cx="2353389" cy="654963"/>
          </a:xfrm>
          <a:prstGeom prst="rect">
            <a:avLst/>
          </a:prstGeom>
          <a:noFill/>
          <a:ln/>
        </p:spPr>
        <p:txBody>
          <a:bodyPr wrap="none" lIns="0" tIns="0" rIns="0" bIns="0" rtlCol="0" anchor="t"/>
          <a:lstStyle/>
          <a:p>
            <a:pPr algn="ctr" indent="0" marL="0">
              <a:lnSpc>
                <a:spcPts val="5150"/>
              </a:lnSpc>
              <a:buNone/>
            </a:pPr>
            <a:r>
              <a:rPr lang="en-US" sz="5150" dirty="0">
                <a:solidFill>
                  <a:srgbClr val="67534F"/>
                </a:solidFill>
                <a:latin typeface="Marcellus" pitchFamily="34" charset="0"/>
                <a:ea typeface="Marcellus" pitchFamily="34" charset="-122"/>
                <a:cs typeface="Marcellus" pitchFamily="34" charset="-120"/>
              </a:rPr>
              <a:t>50</a:t>
            </a:r>
            <a:endParaRPr lang="en-US" sz="5150" dirty="0"/>
          </a:p>
        </p:txBody>
      </p:sp>
      <p:sp>
        <p:nvSpPr>
          <p:cNvPr id="14" name="Text 10"/>
          <p:cNvSpPr/>
          <p:nvPr/>
        </p:nvSpPr>
        <p:spPr>
          <a:xfrm>
            <a:off x="11483102" y="4320302"/>
            <a:ext cx="2353389" cy="370761"/>
          </a:xfrm>
          <a:prstGeom prst="rect">
            <a:avLst/>
          </a:prstGeom>
          <a:noFill/>
          <a:ln/>
        </p:spPr>
        <p:txBody>
          <a:bodyPr wrap="none" lIns="0" tIns="0" rIns="0" bIns="0" rtlCol="0" anchor="t"/>
          <a:lstStyle/>
          <a:p>
            <a:pPr algn="ctr" indent="0" marL="0">
              <a:lnSpc>
                <a:spcPts val="2900"/>
              </a:lnSpc>
              <a:buNone/>
            </a:pPr>
            <a:r>
              <a:rPr lang="en-US" sz="2200" dirty="0">
                <a:solidFill>
                  <a:srgbClr val="67534F"/>
                </a:solidFill>
                <a:latin typeface="Marcellus" pitchFamily="34" charset="0"/>
                <a:ea typeface="Marcellus" pitchFamily="34" charset="-122"/>
                <a:cs typeface="Marcellus" pitchFamily="34" charset="-120"/>
              </a:rPr>
              <a:t>Locations</a:t>
            </a:r>
            <a:endParaRPr lang="en-US" sz="2200" dirty="0"/>
          </a:p>
        </p:txBody>
      </p:sp>
      <p:sp>
        <p:nvSpPr>
          <p:cNvPr id="15" name="Text 11"/>
          <p:cNvSpPr/>
          <p:nvPr/>
        </p:nvSpPr>
        <p:spPr>
          <a:xfrm>
            <a:off x="11483102" y="4810125"/>
            <a:ext cx="2353389" cy="516017"/>
          </a:xfrm>
          <a:prstGeom prst="rect">
            <a:avLst/>
          </a:prstGeom>
          <a:noFill/>
          <a:ln/>
        </p:spPr>
        <p:txBody>
          <a:bodyPr wrap="square" lIns="0" tIns="0" rIns="0" bIns="0" rtlCol="0" anchor="t"/>
          <a:lstStyle/>
          <a:p>
            <a:pPr algn="ctr"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Geographic diversity across customer base</a:t>
            </a:r>
            <a:endParaRPr lang="en-US" sz="1550" dirty="0"/>
          </a:p>
        </p:txBody>
      </p:sp>
      <p:sp>
        <p:nvSpPr>
          <p:cNvPr id="16" name="Text 12"/>
          <p:cNvSpPr/>
          <p:nvPr/>
        </p:nvSpPr>
        <p:spPr>
          <a:xfrm>
            <a:off x="6280190" y="5807393"/>
            <a:ext cx="7556421" cy="1290042"/>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Our dataset captures customer demographics including age, gender, and location, alongside detailed purchase information such as item category, purchase amount, season, size, and color. Shopping behavior metrics include discount usage, promo codes, previous purchases, review ratings, and shipping preferences.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654373"/>
            <a:ext cx="2163485" cy="355997"/>
          </a:xfrm>
          <a:prstGeom prst="roundRect">
            <a:avLst>
              <a:gd name="adj" fmla="val 18733"/>
            </a:avLst>
          </a:prstGeom>
          <a:noFill/>
          <a:ln w="15240">
            <a:solidFill>
              <a:srgbClr val="FF954F"/>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8092" y="1752957"/>
            <a:ext cx="158710" cy="158710"/>
          </a:xfrm>
          <a:prstGeom prst="rect">
            <a:avLst/>
          </a:prstGeom>
        </p:spPr>
      </p:pic>
      <p:sp>
        <p:nvSpPr>
          <p:cNvPr id="4" name="Text 1"/>
          <p:cNvSpPr/>
          <p:nvPr/>
        </p:nvSpPr>
        <p:spPr>
          <a:xfrm>
            <a:off x="1166098" y="1729145"/>
            <a:ext cx="1656874" cy="206454"/>
          </a:xfrm>
          <a:prstGeom prst="rect">
            <a:avLst/>
          </a:prstGeom>
          <a:noFill/>
          <a:ln/>
        </p:spPr>
        <p:txBody>
          <a:bodyPr wrap="none" lIns="0" tIns="0" rIns="0" bIns="0" rtlCol="0" anchor="t"/>
          <a:lstStyle/>
          <a:p>
            <a:pPr algn="l" indent="0" marL="0">
              <a:lnSpc>
                <a:spcPts val="1600"/>
              </a:lnSpc>
              <a:buNone/>
            </a:pPr>
            <a:r>
              <a:rPr lang="en-US" sz="1250" dirty="0">
                <a:solidFill>
                  <a:srgbClr val="FF954F"/>
                </a:solidFill>
                <a:latin typeface="Montserrat" pitchFamily="34" charset="0"/>
                <a:ea typeface="Montserrat" pitchFamily="34" charset="-122"/>
                <a:cs typeface="Montserrat" pitchFamily="34" charset="-120"/>
              </a:rPr>
              <a:t>DATA PREPARATION</a:t>
            </a:r>
            <a:endParaRPr lang="en-US" sz="1250" dirty="0"/>
          </a:p>
        </p:txBody>
      </p:sp>
      <p:sp>
        <p:nvSpPr>
          <p:cNvPr id="5" name="Text 2"/>
          <p:cNvSpPr/>
          <p:nvPr/>
        </p:nvSpPr>
        <p:spPr>
          <a:xfrm>
            <a:off x="793790" y="2089666"/>
            <a:ext cx="8066246" cy="741759"/>
          </a:xfrm>
          <a:prstGeom prst="rect">
            <a:avLst/>
          </a:prstGeom>
          <a:noFill/>
          <a:ln/>
        </p:spPr>
        <p:txBody>
          <a:bodyPr wrap="none" lIns="0" tIns="0" rIns="0" bIns="0" rtlCol="0" anchor="t"/>
          <a:lstStyle/>
          <a:p>
            <a:pPr algn="l" indent="0" marL="0">
              <a:lnSpc>
                <a:spcPts val="5800"/>
              </a:lnSpc>
              <a:buNone/>
            </a:pPr>
            <a:r>
              <a:rPr lang="en-US" sz="4450" dirty="0">
                <a:solidFill>
                  <a:srgbClr val="532418"/>
                </a:solidFill>
                <a:latin typeface="Marcellus" pitchFamily="34" charset="0"/>
                <a:ea typeface="Marcellus" pitchFamily="34" charset="-122"/>
                <a:cs typeface="Marcellus" pitchFamily="34" charset="-120"/>
              </a:rPr>
              <a:t>Python-Powered Data Cleaning</a:t>
            </a:r>
            <a:endParaRPr lang="en-US" sz="4450" dirty="0"/>
          </a:p>
        </p:txBody>
      </p:sp>
      <p:sp>
        <p:nvSpPr>
          <p:cNvPr id="6" name="Text 3"/>
          <p:cNvSpPr/>
          <p:nvPr/>
        </p:nvSpPr>
        <p:spPr>
          <a:xfrm>
            <a:off x="793790" y="3129082"/>
            <a:ext cx="198358" cy="258008"/>
          </a:xfrm>
          <a:prstGeom prst="rect">
            <a:avLst/>
          </a:prstGeom>
          <a:noFill/>
          <a:ln/>
        </p:spPr>
        <p:txBody>
          <a:bodyPr wrap="none" lIns="0" tIns="0" rIns="0" bIns="0" rtlCol="0" anchor="t"/>
          <a:lstStyle/>
          <a:p>
            <a:pPr algn="l" indent="0" marL="0">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01</a:t>
            </a:r>
            <a:endParaRPr lang="en-US" sz="1550" dirty="0"/>
          </a:p>
        </p:txBody>
      </p:sp>
      <p:sp>
        <p:nvSpPr>
          <p:cNvPr id="7" name="Shape 4"/>
          <p:cNvSpPr/>
          <p:nvPr/>
        </p:nvSpPr>
        <p:spPr>
          <a:xfrm>
            <a:off x="793790" y="3453408"/>
            <a:ext cx="6422231" cy="22860"/>
          </a:xfrm>
          <a:prstGeom prst="rect">
            <a:avLst/>
          </a:prstGeom>
          <a:solidFill>
            <a:srgbClr val="FF954F"/>
          </a:solidFill>
          <a:ln/>
        </p:spPr>
      </p:sp>
      <p:sp>
        <p:nvSpPr>
          <p:cNvPr id="8" name="Text 5"/>
          <p:cNvSpPr/>
          <p:nvPr/>
        </p:nvSpPr>
        <p:spPr>
          <a:xfrm>
            <a:off x="793790" y="3598307"/>
            <a:ext cx="356544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Data Loading &amp; Exploration</a:t>
            </a:r>
            <a:endParaRPr lang="en-US" sz="2200" dirty="0"/>
          </a:p>
        </p:txBody>
      </p:sp>
      <p:sp>
        <p:nvSpPr>
          <p:cNvPr id="9" name="Text 6"/>
          <p:cNvSpPr/>
          <p:nvPr/>
        </p:nvSpPr>
        <p:spPr>
          <a:xfrm>
            <a:off x="793790" y="4088130"/>
            <a:ext cx="6422231" cy="516017"/>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Imported dataset using pandas and performed initial structure analysis with df.info() and summary statistics</a:t>
            </a:r>
            <a:endParaRPr lang="en-US" sz="1550" dirty="0"/>
          </a:p>
        </p:txBody>
      </p:sp>
      <p:sp>
        <p:nvSpPr>
          <p:cNvPr id="10" name="Text 7"/>
          <p:cNvSpPr/>
          <p:nvPr/>
        </p:nvSpPr>
        <p:spPr>
          <a:xfrm>
            <a:off x="7414379" y="3129082"/>
            <a:ext cx="198358" cy="258008"/>
          </a:xfrm>
          <a:prstGeom prst="rect">
            <a:avLst/>
          </a:prstGeom>
          <a:noFill/>
          <a:ln/>
        </p:spPr>
        <p:txBody>
          <a:bodyPr wrap="none" lIns="0" tIns="0" rIns="0" bIns="0" rtlCol="0" anchor="t"/>
          <a:lstStyle/>
          <a:p>
            <a:pPr algn="l" indent="0" marL="0">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02</a:t>
            </a:r>
            <a:endParaRPr lang="en-US" sz="1550" dirty="0"/>
          </a:p>
        </p:txBody>
      </p:sp>
      <p:sp>
        <p:nvSpPr>
          <p:cNvPr id="11" name="Shape 8"/>
          <p:cNvSpPr/>
          <p:nvPr/>
        </p:nvSpPr>
        <p:spPr>
          <a:xfrm>
            <a:off x="7414379" y="3453408"/>
            <a:ext cx="6422231" cy="22860"/>
          </a:xfrm>
          <a:prstGeom prst="rect">
            <a:avLst/>
          </a:prstGeom>
          <a:solidFill>
            <a:srgbClr val="FF954F"/>
          </a:solidFill>
          <a:ln/>
        </p:spPr>
      </p:sp>
      <p:sp>
        <p:nvSpPr>
          <p:cNvPr id="12" name="Text 9"/>
          <p:cNvSpPr/>
          <p:nvPr/>
        </p:nvSpPr>
        <p:spPr>
          <a:xfrm>
            <a:off x="7414379" y="3598307"/>
            <a:ext cx="2893338"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Missing Data Handling</a:t>
            </a:r>
            <a:endParaRPr lang="en-US" sz="2200" dirty="0"/>
          </a:p>
        </p:txBody>
      </p:sp>
      <p:sp>
        <p:nvSpPr>
          <p:cNvPr id="13" name="Text 10"/>
          <p:cNvSpPr/>
          <p:nvPr/>
        </p:nvSpPr>
        <p:spPr>
          <a:xfrm>
            <a:off x="7414379" y="4088130"/>
            <a:ext cx="6422231" cy="516017"/>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Imputed 37 missing Review Rating values using median rating by product category</a:t>
            </a:r>
            <a:endParaRPr lang="en-US" sz="1550" dirty="0"/>
          </a:p>
        </p:txBody>
      </p:sp>
      <p:sp>
        <p:nvSpPr>
          <p:cNvPr id="14" name="Text 11"/>
          <p:cNvSpPr/>
          <p:nvPr/>
        </p:nvSpPr>
        <p:spPr>
          <a:xfrm>
            <a:off x="793790" y="4951333"/>
            <a:ext cx="198358" cy="258008"/>
          </a:xfrm>
          <a:prstGeom prst="rect">
            <a:avLst/>
          </a:prstGeom>
          <a:noFill/>
          <a:ln/>
        </p:spPr>
        <p:txBody>
          <a:bodyPr wrap="none" lIns="0" tIns="0" rIns="0" bIns="0" rtlCol="0" anchor="t"/>
          <a:lstStyle/>
          <a:p>
            <a:pPr algn="l" indent="0" marL="0">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03</a:t>
            </a:r>
            <a:endParaRPr lang="en-US" sz="1550" dirty="0"/>
          </a:p>
        </p:txBody>
      </p:sp>
      <p:sp>
        <p:nvSpPr>
          <p:cNvPr id="15" name="Shape 12"/>
          <p:cNvSpPr/>
          <p:nvPr/>
        </p:nvSpPr>
        <p:spPr>
          <a:xfrm>
            <a:off x="793790" y="5275659"/>
            <a:ext cx="6422231" cy="22860"/>
          </a:xfrm>
          <a:prstGeom prst="rect">
            <a:avLst/>
          </a:prstGeom>
          <a:solidFill>
            <a:srgbClr val="FF954F"/>
          </a:solidFill>
          <a:ln/>
        </p:spPr>
      </p:sp>
      <p:sp>
        <p:nvSpPr>
          <p:cNvPr id="16" name="Text 13"/>
          <p:cNvSpPr/>
          <p:nvPr/>
        </p:nvSpPr>
        <p:spPr>
          <a:xfrm>
            <a:off x="793790" y="5420558"/>
            <a:ext cx="285297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Feature Engineering</a:t>
            </a:r>
            <a:endParaRPr lang="en-US" sz="2200" dirty="0"/>
          </a:p>
        </p:txBody>
      </p:sp>
      <p:sp>
        <p:nvSpPr>
          <p:cNvPr id="17" name="Text 14"/>
          <p:cNvSpPr/>
          <p:nvPr/>
        </p:nvSpPr>
        <p:spPr>
          <a:xfrm>
            <a:off x="793790" y="5910382"/>
            <a:ext cx="6422231" cy="516017"/>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Created age_group bins and purchase_frequency_days columns for enhanced analysis</a:t>
            </a:r>
            <a:endParaRPr lang="en-US" sz="1550" dirty="0"/>
          </a:p>
        </p:txBody>
      </p:sp>
      <p:sp>
        <p:nvSpPr>
          <p:cNvPr id="18" name="Text 15"/>
          <p:cNvSpPr/>
          <p:nvPr/>
        </p:nvSpPr>
        <p:spPr>
          <a:xfrm>
            <a:off x="7414379" y="4951333"/>
            <a:ext cx="198358" cy="258008"/>
          </a:xfrm>
          <a:prstGeom prst="rect">
            <a:avLst/>
          </a:prstGeom>
          <a:noFill/>
          <a:ln/>
        </p:spPr>
        <p:txBody>
          <a:bodyPr wrap="none" lIns="0" tIns="0" rIns="0" bIns="0" rtlCol="0" anchor="t"/>
          <a:lstStyle/>
          <a:p>
            <a:pPr algn="l" indent="0" marL="0">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04</a:t>
            </a:r>
            <a:endParaRPr lang="en-US" sz="1550" dirty="0"/>
          </a:p>
        </p:txBody>
      </p:sp>
      <p:sp>
        <p:nvSpPr>
          <p:cNvPr id="19" name="Shape 16"/>
          <p:cNvSpPr/>
          <p:nvPr/>
        </p:nvSpPr>
        <p:spPr>
          <a:xfrm>
            <a:off x="7414379" y="5275659"/>
            <a:ext cx="6422231" cy="22860"/>
          </a:xfrm>
          <a:prstGeom prst="rect">
            <a:avLst/>
          </a:prstGeom>
          <a:solidFill>
            <a:srgbClr val="FF954F"/>
          </a:solidFill>
          <a:ln/>
        </p:spPr>
      </p:sp>
      <p:sp>
        <p:nvSpPr>
          <p:cNvPr id="20" name="Text 17"/>
          <p:cNvSpPr/>
          <p:nvPr/>
        </p:nvSpPr>
        <p:spPr>
          <a:xfrm>
            <a:off x="7414379" y="5420558"/>
            <a:ext cx="285297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Database Integration</a:t>
            </a:r>
            <a:endParaRPr lang="en-US" sz="2200" dirty="0"/>
          </a:p>
        </p:txBody>
      </p:sp>
      <p:sp>
        <p:nvSpPr>
          <p:cNvPr id="21" name="Text 18"/>
          <p:cNvSpPr/>
          <p:nvPr/>
        </p:nvSpPr>
        <p:spPr>
          <a:xfrm>
            <a:off x="7414379" y="5910382"/>
            <a:ext cx="6422231" cy="516017"/>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Connected to PostgreSQL and loaded cleaned data for SQL-based business analysis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554004" y="615196"/>
            <a:ext cx="4200763" cy="546021"/>
          </a:xfrm>
          <a:prstGeom prst="rect">
            <a:avLst/>
          </a:prstGeom>
          <a:noFill/>
          <a:ln/>
        </p:spPr>
        <p:txBody>
          <a:bodyPr wrap="none" lIns="0" tIns="0" rIns="0" bIns="0" rtlCol="0" anchor="t"/>
          <a:lstStyle/>
          <a:p>
            <a:pPr algn="l" indent="0" marL="0">
              <a:lnSpc>
                <a:spcPts val="4300"/>
              </a:lnSpc>
              <a:buNone/>
            </a:pPr>
            <a:r>
              <a:rPr lang="en-US" sz="3300" dirty="0">
                <a:solidFill>
                  <a:srgbClr val="532418"/>
                </a:solidFill>
                <a:latin typeface="Marcellus" pitchFamily="34" charset="0"/>
                <a:ea typeface="Marcellus" pitchFamily="34" charset="-122"/>
                <a:cs typeface="Marcellus" pitchFamily="34" charset="-120"/>
              </a:rPr>
              <a:t>Key Statistical Insights</a:t>
            </a:r>
            <a:endParaRPr lang="en-US" sz="3300" dirty="0"/>
          </a:p>
        </p:txBody>
      </p:sp>
      <p:sp>
        <p:nvSpPr>
          <p:cNvPr id="3" name="Text 1"/>
          <p:cNvSpPr/>
          <p:nvPr/>
        </p:nvSpPr>
        <p:spPr>
          <a:xfrm>
            <a:off x="3446740" y="2393156"/>
            <a:ext cx="1797129" cy="365284"/>
          </a:xfrm>
          <a:prstGeom prst="rect">
            <a:avLst/>
          </a:prstGeom>
          <a:noFill/>
          <a:ln/>
        </p:spPr>
        <p:txBody>
          <a:bodyPr wrap="none" lIns="0" tIns="0" rIns="0" bIns="0" rtlCol="0" anchor="t"/>
          <a:lstStyle/>
          <a:p>
            <a:pPr algn="ctr" indent="0" marL="0">
              <a:lnSpc>
                <a:spcPts val="2850"/>
              </a:lnSpc>
              <a:buNone/>
            </a:pPr>
            <a:r>
              <a:rPr lang="en-US" sz="2850" dirty="0">
                <a:solidFill>
                  <a:srgbClr val="67534F"/>
                </a:solidFill>
                <a:latin typeface="Marcellus" pitchFamily="34" charset="0"/>
                <a:ea typeface="Marcellus" pitchFamily="34" charset="-122"/>
                <a:cs typeface="Marcellus" pitchFamily="34" charset="-120"/>
              </a:rPr>
              <a:t>68%</a:t>
            </a:r>
            <a:endParaRPr lang="en-US" sz="2850" dirty="0"/>
          </a:p>
        </p:txBody>
      </p:sp>
      <p:pic>
        <p:nvPicPr>
          <p:cNvPr id="4" name="Image 0" descr="preencoded.png">    </p:cNvPr>
          <p:cNvPicPr>
            <a:picLocks noChangeAspect="1"/>
          </p:cNvPicPr>
          <p:nvPr/>
        </p:nvPicPr>
        <p:blipFill>
          <a:blip r:embed="rId1"/>
          <a:stretch>
            <a:fillRect/>
          </a:stretch>
        </p:blipFill>
        <p:spPr>
          <a:xfrm>
            <a:off x="3249573" y="1479947"/>
            <a:ext cx="2191703" cy="2191703"/>
          </a:xfrm>
          <a:prstGeom prst="rect">
            <a:avLst/>
          </a:prstGeom>
        </p:spPr>
      </p:pic>
      <p:sp>
        <p:nvSpPr>
          <p:cNvPr id="5" name="Text 2"/>
          <p:cNvSpPr/>
          <p:nvPr/>
        </p:nvSpPr>
        <p:spPr>
          <a:xfrm>
            <a:off x="3295174" y="3815596"/>
            <a:ext cx="2100382" cy="273010"/>
          </a:xfrm>
          <a:prstGeom prst="rect">
            <a:avLst/>
          </a:prstGeom>
          <a:noFill/>
          <a:ln/>
        </p:spPr>
        <p:txBody>
          <a:bodyPr wrap="none" lIns="0" tIns="0" rIns="0" bIns="0" rtlCol="0" anchor="t"/>
          <a:lstStyle/>
          <a:p>
            <a:pPr algn="ctr" indent="0" marL="0">
              <a:lnSpc>
                <a:spcPts val="2150"/>
              </a:lnSpc>
              <a:buNone/>
            </a:pPr>
            <a:r>
              <a:rPr lang="en-US" sz="1650" dirty="0">
                <a:solidFill>
                  <a:srgbClr val="67534F"/>
                </a:solidFill>
                <a:latin typeface="Marcellus" pitchFamily="34" charset="0"/>
                <a:ea typeface="Marcellus" pitchFamily="34" charset="-122"/>
                <a:cs typeface="Marcellus" pitchFamily="34" charset="-120"/>
              </a:rPr>
              <a:t>Male Customers</a:t>
            </a:r>
            <a:endParaRPr lang="en-US" sz="1650" dirty="0"/>
          </a:p>
        </p:txBody>
      </p:sp>
      <p:sp>
        <p:nvSpPr>
          <p:cNvPr id="6" name="Text 3"/>
          <p:cNvSpPr/>
          <p:nvPr/>
        </p:nvSpPr>
        <p:spPr>
          <a:xfrm>
            <a:off x="1554004" y="4196120"/>
            <a:ext cx="5582841" cy="164783"/>
          </a:xfrm>
          <a:prstGeom prst="rect">
            <a:avLst/>
          </a:prstGeom>
          <a:noFill/>
          <a:ln/>
        </p:spPr>
        <p:txBody>
          <a:bodyPr wrap="none" lIns="0" tIns="0" rIns="0" bIns="0" rtlCol="0" anchor="t"/>
          <a:lstStyle/>
          <a:p>
            <a:pPr algn="ctr" indent="0" marL="0">
              <a:lnSpc>
                <a:spcPts val="1250"/>
              </a:lnSpc>
              <a:buNone/>
            </a:pPr>
            <a:r>
              <a:rPr lang="en-US" sz="1150" dirty="0">
                <a:solidFill>
                  <a:srgbClr val="67534F"/>
                </a:solidFill>
                <a:latin typeface="Montserrat" pitchFamily="34" charset="0"/>
                <a:ea typeface="Montserrat" pitchFamily="34" charset="-122"/>
                <a:cs typeface="Montserrat" pitchFamily="34" charset="-120"/>
              </a:rPr>
              <a:t>Dominant customer segment</a:t>
            </a:r>
            <a:endParaRPr lang="en-US" sz="1150" dirty="0"/>
          </a:p>
        </p:txBody>
      </p:sp>
      <p:sp>
        <p:nvSpPr>
          <p:cNvPr id="7" name="Text 4"/>
          <p:cNvSpPr/>
          <p:nvPr/>
        </p:nvSpPr>
        <p:spPr>
          <a:xfrm>
            <a:off x="3446740" y="5525572"/>
            <a:ext cx="1797129" cy="365284"/>
          </a:xfrm>
          <a:prstGeom prst="rect">
            <a:avLst/>
          </a:prstGeom>
          <a:noFill/>
          <a:ln/>
        </p:spPr>
        <p:txBody>
          <a:bodyPr wrap="none" lIns="0" tIns="0" rIns="0" bIns="0" rtlCol="0" anchor="t"/>
          <a:lstStyle/>
          <a:p>
            <a:pPr algn="ctr" indent="0" marL="0">
              <a:lnSpc>
                <a:spcPts val="2850"/>
              </a:lnSpc>
              <a:buNone/>
            </a:pPr>
            <a:r>
              <a:rPr lang="en-US" sz="2850" dirty="0">
                <a:solidFill>
                  <a:srgbClr val="67534F"/>
                </a:solidFill>
                <a:latin typeface="Marcellus" pitchFamily="34" charset="0"/>
                <a:ea typeface="Marcellus" pitchFamily="34" charset="-122"/>
                <a:cs typeface="Marcellus" pitchFamily="34" charset="-120"/>
              </a:rPr>
              <a:t>45%</a:t>
            </a:r>
            <a:endParaRPr lang="en-US" sz="2850" dirty="0"/>
          </a:p>
        </p:txBody>
      </p:sp>
      <p:pic>
        <p:nvPicPr>
          <p:cNvPr id="8" name="Image 1" descr="preencoded.png">    </p:cNvPr>
          <p:cNvPicPr>
            <a:picLocks noChangeAspect="1"/>
          </p:cNvPicPr>
          <p:nvPr/>
        </p:nvPicPr>
        <p:blipFill>
          <a:blip r:embed="rId2"/>
          <a:stretch>
            <a:fillRect/>
          </a:stretch>
        </p:blipFill>
        <p:spPr>
          <a:xfrm>
            <a:off x="3249573" y="4612362"/>
            <a:ext cx="2191703" cy="2191703"/>
          </a:xfrm>
          <a:prstGeom prst="rect">
            <a:avLst/>
          </a:prstGeom>
        </p:spPr>
      </p:pic>
      <p:sp>
        <p:nvSpPr>
          <p:cNvPr id="9" name="Text 5"/>
          <p:cNvSpPr/>
          <p:nvPr/>
        </p:nvSpPr>
        <p:spPr>
          <a:xfrm>
            <a:off x="3295174" y="6948011"/>
            <a:ext cx="2100382" cy="273010"/>
          </a:xfrm>
          <a:prstGeom prst="rect">
            <a:avLst/>
          </a:prstGeom>
          <a:noFill/>
          <a:ln/>
        </p:spPr>
        <p:txBody>
          <a:bodyPr wrap="none" lIns="0" tIns="0" rIns="0" bIns="0" rtlCol="0" anchor="t"/>
          <a:lstStyle/>
          <a:p>
            <a:pPr algn="ctr" indent="0" marL="0">
              <a:lnSpc>
                <a:spcPts val="2150"/>
              </a:lnSpc>
              <a:buNone/>
            </a:pPr>
            <a:r>
              <a:rPr lang="en-US" sz="1650" dirty="0">
                <a:solidFill>
                  <a:srgbClr val="67534F"/>
                </a:solidFill>
                <a:latin typeface="Marcellus" pitchFamily="34" charset="0"/>
                <a:ea typeface="Marcellus" pitchFamily="34" charset="-122"/>
                <a:cs typeface="Marcellus" pitchFamily="34" charset="-120"/>
              </a:rPr>
              <a:t>Clothing Category</a:t>
            </a:r>
            <a:endParaRPr lang="en-US" sz="1650" dirty="0"/>
          </a:p>
        </p:txBody>
      </p:sp>
      <p:sp>
        <p:nvSpPr>
          <p:cNvPr id="10" name="Text 6"/>
          <p:cNvSpPr/>
          <p:nvPr/>
        </p:nvSpPr>
        <p:spPr>
          <a:xfrm>
            <a:off x="1554004" y="7328535"/>
            <a:ext cx="5582841" cy="164783"/>
          </a:xfrm>
          <a:prstGeom prst="rect">
            <a:avLst/>
          </a:prstGeom>
          <a:noFill/>
          <a:ln/>
        </p:spPr>
        <p:txBody>
          <a:bodyPr wrap="none" lIns="0" tIns="0" rIns="0" bIns="0" rtlCol="0" anchor="t"/>
          <a:lstStyle/>
          <a:p>
            <a:pPr algn="ctr" indent="0" marL="0">
              <a:lnSpc>
                <a:spcPts val="1250"/>
              </a:lnSpc>
              <a:buNone/>
            </a:pPr>
            <a:r>
              <a:rPr lang="en-US" sz="1150" dirty="0">
                <a:solidFill>
                  <a:srgbClr val="67534F"/>
                </a:solidFill>
                <a:latin typeface="Montserrat" pitchFamily="34" charset="0"/>
                <a:ea typeface="Montserrat" pitchFamily="34" charset="-122"/>
                <a:cs typeface="Montserrat" pitchFamily="34" charset="-120"/>
              </a:rPr>
              <a:t>Largest product category</a:t>
            </a:r>
            <a:endParaRPr lang="en-US" sz="1150" dirty="0"/>
          </a:p>
        </p:txBody>
      </p:sp>
      <p:sp>
        <p:nvSpPr>
          <p:cNvPr id="11" name="Text 7"/>
          <p:cNvSpPr/>
          <p:nvPr/>
        </p:nvSpPr>
        <p:spPr>
          <a:xfrm>
            <a:off x="7500938" y="1430060"/>
            <a:ext cx="2100382" cy="273010"/>
          </a:xfrm>
          <a:prstGeom prst="rect">
            <a:avLst/>
          </a:prstGeom>
          <a:noFill/>
          <a:ln/>
        </p:spPr>
        <p:txBody>
          <a:bodyPr wrap="none" lIns="0" tIns="0" rIns="0" bIns="0" rtlCol="0" anchor="t"/>
          <a:lstStyle/>
          <a:p>
            <a:pPr algn="l" indent="0" marL="0">
              <a:lnSpc>
                <a:spcPts val="2150"/>
              </a:lnSpc>
              <a:buNone/>
            </a:pPr>
            <a:r>
              <a:rPr lang="en-US" sz="1650" dirty="0">
                <a:solidFill>
                  <a:srgbClr val="532418"/>
                </a:solidFill>
                <a:latin typeface="Marcellus" pitchFamily="34" charset="0"/>
                <a:ea typeface="Marcellus" pitchFamily="34" charset="-122"/>
                <a:cs typeface="Marcellus" pitchFamily="34" charset="-120"/>
              </a:rPr>
              <a:t>Purchase Patterns</a:t>
            </a:r>
            <a:endParaRPr lang="en-US" sz="1650" dirty="0"/>
          </a:p>
        </p:txBody>
      </p:sp>
      <p:sp>
        <p:nvSpPr>
          <p:cNvPr id="12" name="Text 8"/>
          <p:cNvSpPr/>
          <p:nvPr/>
        </p:nvSpPr>
        <p:spPr>
          <a:xfrm>
            <a:off x="7500938" y="1810583"/>
            <a:ext cx="5582841" cy="494348"/>
          </a:xfrm>
          <a:prstGeom prst="rect">
            <a:avLst/>
          </a:prstGeom>
          <a:noFill/>
          <a:ln/>
        </p:spPr>
        <p:txBody>
          <a:bodyPr wrap="square" lIns="0" tIns="0" rIns="0" bIns="0" rtlCol="0" anchor="t"/>
          <a:lstStyle/>
          <a:p>
            <a:pPr algn="l" indent="0" marL="0">
              <a:lnSpc>
                <a:spcPts val="1250"/>
              </a:lnSpc>
              <a:buNone/>
            </a:pPr>
            <a:r>
              <a:rPr lang="en-US" sz="1150" dirty="0">
                <a:solidFill>
                  <a:srgbClr val="67534F"/>
                </a:solidFill>
                <a:latin typeface="Montserrat" pitchFamily="34" charset="0"/>
                <a:ea typeface="Montserrat" pitchFamily="34" charset="-122"/>
                <a:cs typeface="Montserrat" pitchFamily="34" charset="-120"/>
              </a:rPr>
              <a:t>Average purchase amount: </a:t>
            </a:r>
            <a:pPr algn="l" indent="0" marL="0">
              <a:lnSpc>
                <a:spcPts val="1250"/>
              </a:lnSpc>
              <a:buNone/>
            </a:pPr>
            <a:r>
              <a:rPr lang="en-US" sz="1150" b="1" dirty="0">
                <a:solidFill>
                  <a:srgbClr val="67534F"/>
                </a:solidFill>
                <a:latin typeface="Montserrat" pitchFamily="34" charset="0"/>
                <a:ea typeface="Montserrat" pitchFamily="34" charset="-122"/>
                <a:cs typeface="Montserrat" pitchFamily="34" charset="-120"/>
              </a:rPr>
              <a:t>$59.76</a:t>
            </a:r>
            <a:pPr algn="l" indent="0" marL="0">
              <a:lnSpc>
                <a:spcPts val="1250"/>
              </a:lnSpc>
              <a:buNone/>
            </a:pPr>
            <a:r>
              <a:rPr lang="en-US" sz="1150" dirty="0">
                <a:solidFill>
                  <a:srgbClr val="67534F"/>
                </a:solidFill>
                <a:latin typeface="Montserrat" pitchFamily="34" charset="0"/>
                <a:ea typeface="Montserrat" pitchFamily="34" charset="-122"/>
                <a:cs typeface="Montserrat" pitchFamily="34" charset="-120"/>
              </a:rPr>
              <a:t> with a standard deviation of $23.69, ranging from $20 to $100. Customer ages span 18-70 years with a median of 44 years.</a:t>
            </a:r>
            <a:endParaRPr lang="en-US" sz="1150" dirty="0"/>
          </a:p>
        </p:txBody>
      </p:sp>
      <p:sp>
        <p:nvSpPr>
          <p:cNvPr id="13" name="Text 9"/>
          <p:cNvSpPr/>
          <p:nvPr/>
        </p:nvSpPr>
        <p:spPr>
          <a:xfrm>
            <a:off x="7500938" y="2401729"/>
            <a:ext cx="5582841" cy="329565"/>
          </a:xfrm>
          <a:prstGeom prst="rect">
            <a:avLst/>
          </a:prstGeom>
          <a:noFill/>
          <a:ln/>
        </p:spPr>
        <p:txBody>
          <a:bodyPr wrap="square" lIns="0" tIns="0" rIns="0" bIns="0" rtlCol="0" anchor="t"/>
          <a:lstStyle/>
          <a:p>
            <a:pPr algn="l" indent="0" marL="0">
              <a:lnSpc>
                <a:spcPts val="1250"/>
              </a:lnSpc>
              <a:buNone/>
            </a:pPr>
            <a:r>
              <a:rPr lang="en-US" sz="1150" dirty="0">
                <a:solidFill>
                  <a:srgbClr val="67534F"/>
                </a:solidFill>
                <a:latin typeface="Montserrat" pitchFamily="34" charset="0"/>
                <a:ea typeface="Montserrat" pitchFamily="34" charset="-122"/>
                <a:cs typeface="Montserrat" pitchFamily="34" charset="-120"/>
              </a:rPr>
              <a:t>Average review rating: </a:t>
            </a:r>
            <a:pPr algn="l" indent="0" marL="0">
              <a:lnSpc>
                <a:spcPts val="1250"/>
              </a:lnSpc>
              <a:buNone/>
            </a:pPr>
            <a:r>
              <a:rPr lang="en-US" sz="1150" b="1" dirty="0">
                <a:solidFill>
                  <a:srgbClr val="67534F"/>
                </a:solidFill>
                <a:latin typeface="Montserrat" pitchFamily="34" charset="0"/>
                <a:ea typeface="Montserrat" pitchFamily="34" charset="-122"/>
                <a:cs typeface="Montserrat" pitchFamily="34" charset="-120"/>
              </a:rPr>
              <a:t>3.75 out of 5.0</a:t>
            </a:r>
            <a:pPr algn="l" indent="0" marL="0">
              <a:lnSpc>
                <a:spcPts val="1250"/>
              </a:lnSpc>
              <a:buNone/>
            </a:pPr>
            <a:r>
              <a:rPr lang="en-US" sz="1150" dirty="0">
                <a:solidFill>
                  <a:srgbClr val="67534F"/>
                </a:solidFill>
                <a:latin typeface="Montserrat" pitchFamily="34" charset="0"/>
                <a:ea typeface="Montserrat" pitchFamily="34" charset="-122"/>
                <a:cs typeface="Montserrat" pitchFamily="34" charset="-120"/>
              </a:rPr>
              <a:t>, indicating generally positive customer satisfaction across all product categories.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1032510"/>
            <a:ext cx="1621869" cy="325517"/>
          </a:xfrm>
          <a:prstGeom prst="roundRect">
            <a:avLst>
              <a:gd name="adj" fmla="val 20487"/>
            </a:avLst>
          </a:prstGeom>
          <a:solidFill>
            <a:srgbClr val="FFE0CC"/>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2852" y="1115854"/>
            <a:ext cx="158710" cy="158710"/>
          </a:xfrm>
          <a:prstGeom prst="rect">
            <a:avLst/>
          </a:prstGeom>
        </p:spPr>
      </p:pic>
      <p:sp>
        <p:nvSpPr>
          <p:cNvPr id="4" name="Text 1"/>
          <p:cNvSpPr/>
          <p:nvPr/>
        </p:nvSpPr>
        <p:spPr>
          <a:xfrm>
            <a:off x="1150858" y="1092041"/>
            <a:ext cx="1145738" cy="206454"/>
          </a:xfrm>
          <a:prstGeom prst="rect">
            <a:avLst/>
          </a:prstGeom>
          <a:noFill/>
          <a:ln/>
        </p:spPr>
        <p:txBody>
          <a:bodyPr wrap="none" lIns="0" tIns="0" rIns="0" bIns="0" rtlCol="0" anchor="t"/>
          <a:lstStyle/>
          <a:p>
            <a:pPr algn="l" indent="0" marL="0">
              <a:lnSpc>
                <a:spcPts val="1600"/>
              </a:lnSpc>
              <a:buNone/>
            </a:pPr>
            <a:r>
              <a:rPr lang="en-US" sz="1250" dirty="0">
                <a:solidFill>
                  <a:srgbClr val="67534F"/>
                </a:solidFill>
                <a:latin typeface="Montserrat" pitchFamily="34" charset="0"/>
                <a:ea typeface="Montserrat" pitchFamily="34" charset="-122"/>
                <a:cs typeface="Montserrat" pitchFamily="34" charset="-120"/>
              </a:rPr>
              <a:t>SQL ANALYSIS</a:t>
            </a:r>
            <a:endParaRPr lang="en-US" sz="1250" dirty="0"/>
          </a:p>
        </p:txBody>
      </p:sp>
      <p:sp>
        <p:nvSpPr>
          <p:cNvPr id="5" name="Text 2"/>
          <p:cNvSpPr/>
          <p:nvPr/>
        </p:nvSpPr>
        <p:spPr>
          <a:xfrm>
            <a:off x="793790" y="1437323"/>
            <a:ext cx="7221855" cy="741759"/>
          </a:xfrm>
          <a:prstGeom prst="rect">
            <a:avLst/>
          </a:prstGeom>
          <a:noFill/>
          <a:ln/>
        </p:spPr>
        <p:txBody>
          <a:bodyPr wrap="none" lIns="0" tIns="0" rIns="0" bIns="0" rtlCol="0" anchor="t"/>
          <a:lstStyle/>
          <a:p>
            <a:pPr algn="l" indent="0" marL="0">
              <a:lnSpc>
                <a:spcPts val="5800"/>
              </a:lnSpc>
              <a:buNone/>
            </a:pPr>
            <a:r>
              <a:rPr lang="en-US" sz="4450" dirty="0">
                <a:solidFill>
                  <a:srgbClr val="532418"/>
                </a:solidFill>
                <a:latin typeface="Marcellus" pitchFamily="34" charset="0"/>
                <a:ea typeface="Marcellus" pitchFamily="34" charset="-122"/>
                <a:cs typeface="Marcellus" pitchFamily="34" charset="-120"/>
              </a:rPr>
              <a:t>Revenue Analysis by Gender</a:t>
            </a:r>
            <a:endParaRPr lang="en-US" sz="4450" dirty="0"/>
          </a:p>
        </p:txBody>
      </p:sp>
      <p:pic>
        <p:nvPicPr>
          <p:cNvPr id="6" name="Image 1" descr="preencoded.png">    </p:cNvPr>
          <p:cNvPicPr>
            <a:picLocks noChangeAspect="1"/>
          </p:cNvPicPr>
          <p:nvPr/>
        </p:nvPicPr>
        <p:blipFill>
          <a:blip r:embed="rId3"/>
          <a:stretch>
            <a:fillRect/>
          </a:stretch>
        </p:blipFill>
        <p:spPr>
          <a:xfrm>
            <a:off x="793790" y="2699980"/>
            <a:ext cx="7632025" cy="4273868"/>
          </a:xfrm>
          <a:prstGeom prst="rect">
            <a:avLst/>
          </a:prstGeom>
        </p:spPr>
      </p:pic>
      <p:sp>
        <p:nvSpPr>
          <p:cNvPr id="7" name="Text 3"/>
          <p:cNvSpPr/>
          <p:nvPr/>
        </p:nvSpPr>
        <p:spPr>
          <a:xfrm>
            <a:off x="8917543" y="2675096"/>
            <a:ext cx="4041577" cy="370761"/>
          </a:xfrm>
          <a:prstGeom prst="rect">
            <a:avLst/>
          </a:prstGeom>
          <a:noFill/>
          <a:ln/>
        </p:spPr>
        <p:txBody>
          <a:bodyPr wrap="none" lIns="0" tIns="0" rIns="0" bIns="0" rtlCol="0" anchor="t"/>
          <a:lstStyle/>
          <a:p>
            <a:pPr algn="l" indent="0" marL="0">
              <a:lnSpc>
                <a:spcPts val="2900"/>
              </a:lnSpc>
              <a:buNone/>
            </a:pPr>
            <a:r>
              <a:rPr lang="en-US" sz="2200" dirty="0">
                <a:solidFill>
                  <a:srgbClr val="532418"/>
                </a:solidFill>
                <a:latin typeface="Marcellus" pitchFamily="34" charset="0"/>
                <a:ea typeface="Marcellus" pitchFamily="34" charset="-122"/>
                <a:cs typeface="Marcellus" pitchFamily="34" charset="-120"/>
              </a:rPr>
              <a:t>Male Customers Drive Revenue</a:t>
            </a:r>
            <a:endParaRPr lang="en-US" sz="2200" dirty="0"/>
          </a:p>
        </p:txBody>
      </p:sp>
      <p:sp>
        <p:nvSpPr>
          <p:cNvPr id="8" name="Text 4"/>
          <p:cNvSpPr/>
          <p:nvPr/>
        </p:nvSpPr>
        <p:spPr>
          <a:xfrm>
            <a:off x="8917543" y="3244215"/>
            <a:ext cx="4926568" cy="1032034"/>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Male customers generate </a:t>
            </a:r>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$157,890</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 in total revenue, more than double the </a:t>
            </a:r>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$75,191</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 from female customers. This 68% male customer base represents a significant revenue concentration.</a:t>
            </a:r>
            <a:endParaRPr lang="en-US" sz="1550" dirty="0"/>
          </a:p>
        </p:txBody>
      </p:sp>
      <p:sp>
        <p:nvSpPr>
          <p:cNvPr id="9" name="Text 5"/>
          <p:cNvSpPr/>
          <p:nvPr/>
        </p:nvSpPr>
        <p:spPr>
          <a:xfrm>
            <a:off x="8917543" y="4454843"/>
            <a:ext cx="4926568" cy="1032034"/>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This insight suggests opportunities for targeted marketing campaigns and product development focused on male preferences while exploring growth potential in the female segment.</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884402" y="400288"/>
            <a:ext cx="7035522" cy="514707"/>
          </a:xfrm>
          <a:prstGeom prst="rect">
            <a:avLst/>
          </a:prstGeom>
          <a:noFill/>
          <a:ln/>
        </p:spPr>
        <p:txBody>
          <a:bodyPr wrap="none" lIns="0" tIns="0" rIns="0" bIns="0" rtlCol="0" anchor="t"/>
          <a:lstStyle/>
          <a:p>
            <a:pPr algn="l" indent="0" marL="0">
              <a:lnSpc>
                <a:spcPts val="4050"/>
              </a:lnSpc>
              <a:buNone/>
            </a:pPr>
            <a:r>
              <a:rPr lang="en-US" sz="3100" dirty="0">
                <a:solidFill>
                  <a:srgbClr val="532418"/>
                </a:solidFill>
                <a:latin typeface="Marcellus" pitchFamily="34" charset="0"/>
                <a:ea typeface="Marcellus" pitchFamily="34" charset="-122"/>
                <a:cs typeface="Marcellus" pitchFamily="34" charset="-120"/>
              </a:rPr>
              <a:t>Top-Rated Products &amp; Shipping Insights</a:t>
            </a:r>
            <a:endParaRPr lang="en-US" sz="3100" dirty="0"/>
          </a:p>
        </p:txBody>
      </p:sp>
      <p:sp>
        <p:nvSpPr>
          <p:cNvPr id="3" name="Text 1"/>
          <p:cNvSpPr/>
          <p:nvPr/>
        </p:nvSpPr>
        <p:spPr>
          <a:xfrm>
            <a:off x="1884402" y="1153835"/>
            <a:ext cx="2110978" cy="257294"/>
          </a:xfrm>
          <a:prstGeom prst="rect">
            <a:avLst/>
          </a:prstGeom>
          <a:noFill/>
          <a:ln/>
        </p:spPr>
        <p:txBody>
          <a:bodyPr wrap="none" lIns="0" tIns="0" rIns="0" bIns="0" rtlCol="0" anchor="t"/>
          <a:lstStyle/>
          <a:p>
            <a:pPr algn="l" indent="0" marL="0">
              <a:lnSpc>
                <a:spcPts val="2000"/>
              </a:lnSpc>
              <a:buNone/>
            </a:pPr>
            <a:r>
              <a:rPr lang="en-US" sz="1550" dirty="0">
                <a:solidFill>
                  <a:srgbClr val="532418"/>
                </a:solidFill>
                <a:latin typeface="Marcellus" pitchFamily="34" charset="0"/>
                <a:ea typeface="Marcellus" pitchFamily="34" charset="-122"/>
                <a:cs typeface="Marcellus" pitchFamily="34" charset="-120"/>
              </a:rPr>
              <a:t>Highest-Rated Products</a:t>
            </a:r>
            <a:endParaRPr lang="en-US" sz="1550" dirty="0"/>
          </a:p>
        </p:txBody>
      </p:sp>
      <p:sp>
        <p:nvSpPr>
          <p:cNvPr id="4" name="Shape 2"/>
          <p:cNvSpPr/>
          <p:nvPr/>
        </p:nvSpPr>
        <p:spPr>
          <a:xfrm>
            <a:off x="1884402" y="1587460"/>
            <a:ext cx="4840605" cy="172164"/>
          </a:xfrm>
          <a:prstGeom prst="roundRect">
            <a:avLst>
              <a:gd name="adj" fmla="val 33602"/>
            </a:avLst>
          </a:prstGeom>
          <a:solidFill>
            <a:srgbClr val="FFFFF4"/>
          </a:solidFill>
          <a:ln w="15240">
            <a:solidFill>
              <a:srgbClr val="FFE0CC"/>
            </a:solidFill>
            <a:prstDash val="solid"/>
          </a:ln>
        </p:spPr>
      </p:sp>
      <p:sp>
        <p:nvSpPr>
          <p:cNvPr id="5" name="Shape 3"/>
          <p:cNvSpPr/>
          <p:nvPr/>
        </p:nvSpPr>
        <p:spPr>
          <a:xfrm>
            <a:off x="1884402" y="1587460"/>
            <a:ext cx="3727252" cy="172164"/>
          </a:xfrm>
          <a:prstGeom prst="roundRect">
            <a:avLst>
              <a:gd name="adj" fmla="val 33602"/>
            </a:avLst>
          </a:prstGeom>
          <a:solidFill>
            <a:srgbClr val="FF954F"/>
          </a:solidFill>
          <a:ln/>
        </p:spPr>
      </p:sp>
      <p:sp>
        <p:nvSpPr>
          <p:cNvPr id="6" name="Text 4"/>
          <p:cNvSpPr/>
          <p:nvPr/>
        </p:nvSpPr>
        <p:spPr>
          <a:xfrm>
            <a:off x="6828234" y="1587460"/>
            <a:ext cx="317778" cy="172164"/>
          </a:xfrm>
          <a:prstGeom prst="rect">
            <a:avLst/>
          </a:prstGeom>
          <a:noFill/>
          <a:ln/>
        </p:spPr>
        <p:txBody>
          <a:bodyPr wrap="none" lIns="0" tIns="0" rIns="0" bIns="0" rtlCol="0" anchor="t"/>
          <a:lstStyle/>
          <a:p>
            <a:pPr algn="l" indent="0" marL="0">
              <a:lnSpc>
                <a:spcPts val="1350"/>
              </a:lnSpc>
              <a:buNone/>
            </a:pPr>
            <a:r>
              <a:rPr lang="en-US" sz="1350" dirty="0">
                <a:solidFill>
                  <a:srgbClr val="67534F"/>
                </a:solidFill>
                <a:latin typeface="Marcellus" pitchFamily="34" charset="0"/>
                <a:ea typeface="Marcellus" pitchFamily="34" charset="-122"/>
                <a:cs typeface="Marcellus" pitchFamily="34" charset="-120"/>
              </a:rPr>
              <a:t>77%</a:t>
            </a:r>
            <a:endParaRPr lang="en-US" sz="1350" dirty="0"/>
          </a:p>
        </p:txBody>
      </p:sp>
      <p:sp>
        <p:nvSpPr>
          <p:cNvPr id="7" name="Text 5"/>
          <p:cNvSpPr/>
          <p:nvPr/>
        </p:nvSpPr>
        <p:spPr>
          <a:xfrm>
            <a:off x="1884402" y="1900118"/>
            <a:ext cx="1979890" cy="257294"/>
          </a:xfrm>
          <a:prstGeom prst="rect">
            <a:avLst/>
          </a:prstGeom>
          <a:noFill/>
          <a:ln/>
        </p:spPr>
        <p:txBody>
          <a:bodyPr wrap="none" lIns="0" tIns="0" rIns="0" bIns="0" rtlCol="0" anchor="t"/>
          <a:lstStyle/>
          <a:p>
            <a:pPr algn="l" indent="0" marL="0">
              <a:lnSpc>
                <a:spcPts val="2000"/>
              </a:lnSpc>
              <a:buNone/>
            </a:pPr>
            <a:r>
              <a:rPr lang="en-US" sz="1550" dirty="0">
                <a:solidFill>
                  <a:srgbClr val="67534F"/>
                </a:solidFill>
                <a:latin typeface="Marcellus" pitchFamily="34" charset="0"/>
                <a:ea typeface="Marcellus" pitchFamily="34" charset="-122"/>
                <a:cs typeface="Marcellus" pitchFamily="34" charset="-120"/>
              </a:rPr>
              <a:t>Gloves</a:t>
            </a:r>
            <a:endParaRPr lang="en-US" sz="1550" dirty="0"/>
          </a:p>
        </p:txBody>
      </p:sp>
      <p:sp>
        <p:nvSpPr>
          <p:cNvPr id="8" name="Text 6"/>
          <p:cNvSpPr/>
          <p:nvPr/>
        </p:nvSpPr>
        <p:spPr>
          <a:xfrm>
            <a:off x="1884402" y="2252901"/>
            <a:ext cx="5261610" cy="151567"/>
          </a:xfrm>
          <a:prstGeom prst="rect">
            <a:avLst/>
          </a:prstGeom>
          <a:noFill/>
          <a:ln/>
        </p:spPr>
        <p:txBody>
          <a:bodyPr wrap="none" lIns="0" tIns="0" rIns="0" bIns="0" rtlCol="0" anchor="t"/>
          <a:lstStyle/>
          <a:p>
            <a:pPr algn="l" indent="0" marL="0">
              <a:lnSpc>
                <a:spcPts val="1150"/>
              </a:lnSpc>
              <a:buNone/>
            </a:pPr>
            <a:r>
              <a:rPr lang="en-US" sz="1050" dirty="0">
                <a:solidFill>
                  <a:srgbClr val="67534F"/>
                </a:solidFill>
                <a:latin typeface="Montserrat" pitchFamily="34" charset="0"/>
                <a:ea typeface="Montserrat" pitchFamily="34" charset="-122"/>
                <a:cs typeface="Montserrat" pitchFamily="34" charset="-120"/>
              </a:rPr>
              <a:t>3.86 average rating</a:t>
            </a:r>
            <a:endParaRPr lang="en-US" sz="1050" dirty="0"/>
          </a:p>
        </p:txBody>
      </p:sp>
      <p:sp>
        <p:nvSpPr>
          <p:cNvPr id="9" name="Shape 7"/>
          <p:cNvSpPr/>
          <p:nvPr/>
        </p:nvSpPr>
        <p:spPr>
          <a:xfrm>
            <a:off x="1884402" y="2664381"/>
            <a:ext cx="4840605" cy="172164"/>
          </a:xfrm>
          <a:prstGeom prst="roundRect">
            <a:avLst>
              <a:gd name="adj" fmla="val 33602"/>
            </a:avLst>
          </a:prstGeom>
          <a:solidFill>
            <a:srgbClr val="FFFFF4"/>
          </a:solidFill>
          <a:ln w="15240">
            <a:solidFill>
              <a:srgbClr val="FFE0CC"/>
            </a:solidFill>
            <a:prstDash val="solid"/>
          </a:ln>
        </p:spPr>
      </p:sp>
      <p:sp>
        <p:nvSpPr>
          <p:cNvPr id="10" name="Shape 8"/>
          <p:cNvSpPr/>
          <p:nvPr/>
        </p:nvSpPr>
        <p:spPr>
          <a:xfrm>
            <a:off x="1884402" y="2664381"/>
            <a:ext cx="3727252" cy="172164"/>
          </a:xfrm>
          <a:prstGeom prst="roundRect">
            <a:avLst>
              <a:gd name="adj" fmla="val 33602"/>
            </a:avLst>
          </a:prstGeom>
          <a:solidFill>
            <a:srgbClr val="FF954F"/>
          </a:solidFill>
          <a:ln/>
        </p:spPr>
      </p:sp>
      <p:sp>
        <p:nvSpPr>
          <p:cNvPr id="11" name="Text 9"/>
          <p:cNvSpPr/>
          <p:nvPr/>
        </p:nvSpPr>
        <p:spPr>
          <a:xfrm>
            <a:off x="6828234" y="2664381"/>
            <a:ext cx="317778" cy="172164"/>
          </a:xfrm>
          <a:prstGeom prst="rect">
            <a:avLst/>
          </a:prstGeom>
          <a:noFill/>
          <a:ln/>
        </p:spPr>
        <p:txBody>
          <a:bodyPr wrap="none" lIns="0" tIns="0" rIns="0" bIns="0" rtlCol="0" anchor="t"/>
          <a:lstStyle/>
          <a:p>
            <a:pPr algn="l" indent="0" marL="0">
              <a:lnSpc>
                <a:spcPts val="1350"/>
              </a:lnSpc>
              <a:buNone/>
            </a:pPr>
            <a:r>
              <a:rPr lang="en-US" sz="1350" dirty="0">
                <a:solidFill>
                  <a:srgbClr val="67534F"/>
                </a:solidFill>
                <a:latin typeface="Marcellus" pitchFamily="34" charset="0"/>
                <a:ea typeface="Marcellus" pitchFamily="34" charset="-122"/>
                <a:cs typeface="Marcellus" pitchFamily="34" charset="-120"/>
              </a:rPr>
              <a:t>77%</a:t>
            </a:r>
            <a:endParaRPr lang="en-US" sz="1350" dirty="0"/>
          </a:p>
        </p:txBody>
      </p:sp>
      <p:sp>
        <p:nvSpPr>
          <p:cNvPr id="12" name="Text 10"/>
          <p:cNvSpPr/>
          <p:nvPr/>
        </p:nvSpPr>
        <p:spPr>
          <a:xfrm>
            <a:off x="1884402" y="2977039"/>
            <a:ext cx="1979890" cy="257294"/>
          </a:xfrm>
          <a:prstGeom prst="rect">
            <a:avLst/>
          </a:prstGeom>
          <a:noFill/>
          <a:ln/>
        </p:spPr>
        <p:txBody>
          <a:bodyPr wrap="none" lIns="0" tIns="0" rIns="0" bIns="0" rtlCol="0" anchor="t"/>
          <a:lstStyle/>
          <a:p>
            <a:pPr algn="l" indent="0" marL="0">
              <a:lnSpc>
                <a:spcPts val="2000"/>
              </a:lnSpc>
              <a:buNone/>
            </a:pPr>
            <a:r>
              <a:rPr lang="en-US" sz="1550" dirty="0">
                <a:solidFill>
                  <a:srgbClr val="67534F"/>
                </a:solidFill>
                <a:latin typeface="Marcellus" pitchFamily="34" charset="0"/>
                <a:ea typeface="Marcellus" pitchFamily="34" charset="-122"/>
                <a:cs typeface="Marcellus" pitchFamily="34" charset="-120"/>
              </a:rPr>
              <a:t>Sandals</a:t>
            </a:r>
            <a:endParaRPr lang="en-US" sz="1550" dirty="0"/>
          </a:p>
        </p:txBody>
      </p:sp>
      <p:sp>
        <p:nvSpPr>
          <p:cNvPr id="13" name="Text 11"/>
          <p:cNvSpPr/>
          <p:nvPr/>
        </p:nvSpPr>
        <p:spPr>
          <a:xfrm>
            <a:off x="1884402" y="3329821"/>
            <a:ext cx="5261610" cy="151567"/>
          </a:xfrm>
          <a:prstGeom prst="rect">
            <a:avLst/>
          </a:prstGeom>
          <a:noFill/>
          <a:ln/>
        </p:spPr>
        <p:txBody>
          <a:bodyPr wrap="none" lIns="0" tIns="0" rIns="0" bIns="0" rtlCol="0" anchor="t"/>
          <a:lstStyle/>
          <a:p>
            <a:pPr algn="l" indent="0" marL="0">
              <a:lnSpc>
                <a:spcPts val="1150"/>
              </a:lnSpc>
              <a:buNone/>
            </a:pPr>
            <a:r>
              <a:rPr lang="en-US" sz="1050" dirty="0">
                <a:solidFill>
                  <a:srgbClr val="67534F"/>
                </a:solidFill>
                <a:latin typeface="Montserrat" pitchFamily="34" charset="0"/>
                <a:ea typeface="Montserrat" pitchFamily="34" charset="-122"/>
                <a:cs typeface="Montserrat" pitchFamily="34" charset="-120"/>
              </a:rPr>
              <a:t>3.84 average rating</a:t>
            </a:r>
            <a:endParaRPr lang="en-US" sz="1050" dirty="0"/>
          </a:p>
        </p:txBody>
      </p:sp>
      <p:sp>
        <p:nvSpPr>
          <p:cNvPr id="14" name="Shape 12"/>
          <p:cNvSpPr/>
          <p:nvPr/>
        </p:nvSpPr>
        <p:spPr>
          <a:xfrm>
            <a:off x="1884402" y="3741301"/>
            <a:ext cx="4835604" cy="172164"/>
          </a:xfrm>
          <a:prstGeom prst="roundRect">
            <a:avLst>
              <a:gd name="adj" fmla="val 33602"/>
            </a:avLst>
          </a:prstGeom>
          <a:solidFill>
            <a:srgbClr val="FFFFF4"/>
          </a:solidFill>
          <a:ln w="15240">
            <a:solidFill>
              <a:srgbClr val="FFE0CC"/>
            </a:solidFill>
            <a:prstDash val="solid"/>
          </a:ln>
        </p:spPr>
      </p:sp>
      <p:sp>
        <p:nvSpPr>
          <p:cNvPr id="15" name="Shape 13"/>
          <p:cNvSpPr/>
          <p:nvPr/>
        </p:nvSpPr>
        <p:spPr>
          <a:xfrm>
            <a:off x="1884402" y="3741301"/>
            <a:ext cx="3674983" cy="172164"/>
          </a:xfrm>
          <a:prstGeom prst="roundRect">
            <a:avLst>
              <a:gd name="adj" fmla="val 33602"/>
            </a:avLst>
          </a:prstGeom>
          <a:solidFill>
            <a:srgbClr val="FF954F"/>
          </a:solidFill>
          <a:ln/>
        </p:spPr>
      </p:sp>
      <p:sp>
        <p:nvSpPr>
          <p:cNvPr id="16" name="Text 14"/>
          <p:cNvSpPr/>
          <p:nvPr/>
        </p:nvSpPr>
        <p:spPr>
          <a:xfrm>
            <a:off x="6823234" y="3741301"/>
            <a:ext cx="322778" cy="172164"/>
          </a:xfrm>
          <a:prstGeom prst="rect">
            <a:avLst/>
          </a:prstGeom>
          <a:noFill/>
          <a:ln/>
        </p:spPr>
        <p:txBody>
          <a:bodyPr wrap="none" lIns="0" tIns="0" rIns="0" bIns="0" rtlCol="0" anchor="t"/>
          <a:lstStyle/>
          <a:p>
            <a:pPr algn="l" indent="0" marL="0">
              <a:lnSpc>
                <a:spcPts val="1350"/>
              </a:lnSpc>
              <a:buNone/>
            </a:pPr>
            <a:r>
              <a:rPr lang="en-US" sz="1350" dirty="0">
                <a:solidFill>
                  <a:srgbClr val="67534F"/>
                </a:solidFill>
                <a:latin typeface="Marcellus" pitchFamily="34" charset="0"/>
                <a:ea typeface="Marcellus" pitchFamily="34" charset="-122"/>
                <a:cs typeface="Marcellus" pitchFamily="34" charset="-120"/>
              </a:rPr>
              <a:t>76%</a:t>
            </a:r>
            <a:endParaRPr lang="en-US" sz="1350" dirty="0"/>
          </a:p>
        </p:txBody>
      </p:sp>
      <p:sp>
        <p:nvSpPr>
          <p:cNvPr id="17" name="Text 15"/>
          <p:cNvSpPr/>
          <p:nvPr/>
        </p:nvSpPr>
        <p:spPr>
          <a:xfrm>
            <a:off x="1884402" y="4053959"/>
            <a:ext cx="1979890" cy="257294"/>
          </a:xfrm>
          <a:prstGeom prst="rect">
            <a:avLst/>
          </a:prstGeom>
          <a:noFill/>
          <a:ln/>
        </p:spPr>
        <p:txBody>
          <a:bodyPr wrap="none" lIns="0" tIns="0" rIns="0" bIns="0" rtlCol="0" anchor="t"/>
          <a:lstStyle/>
          <a:p>
            <a:pPr algn="l" indent="0" marL="0">
              <a:lnSpc>
                <a:spcPts val="2000"/>
              </a:lnSpc>
              <a:buNone/>
            </a:pPr>
            <a:r>
              <a:rPr lang="en-US" sz="1550" dirty="0">
                <a:solidFill>
                  <a:srgbClr val="67534F"/>
                </a:solidFill>
                <a:latin typeface="Marcellus" pitchFamily="34" charset="0"/>
                <a:ea typeface="Marcellus" pitchFamily="34" charset="-122"/>
                <a:cs typeface="Marcellus" pitchFamily="34" charset="-120"/>
              </a:rPr>
              <a:t>Boots</a:t>
            </a:r>
            <a:endParaRPr lang="en-US" sz="1550" dirty="0"/>
          </a:p>
        </p:txBody>
      </p:sp>
      <p:sp>
        <p:nvSpPr>
          <p:cNvPr id="18" name="Text 16"/>
          <p:cNvSpPr/>
          <p:nvPr/>
        </p:nvSpPr>
        <p:spPr>
          <a:xfrm>
            <a:off x="1884402" y="4406741"/>
            <a:ext cx="5261610" cy="151567"/>
          </a:xfrm>
          <a:prstGeom prst="rect">
            <a:avLst/>
          </a:prstGeom>
          <a:noFill/>
          <a:ln/>
        </p:spPr>
        <p:txBody>
          <a:bodyPr wrap="none" lIns="0" tIns="0" rIns="0" bIns="0" rtlCol="0" anchor="t"/>
          <a:lstStyle/>
          <a:p>
            <a:pPr algn="l" indent="0" marL="0">
              <a:lnSpc>
                <a:spcPts val="1150"/>
              </a:lnSpc>
              <a:buNone/>
            </a:pPr>
            <a:r>
              <a:rPr lang="en-US" sz="1050" dirty="0">
                <a:solidFill>
                  <a:srgbClr val="67534F"/>
                </a:solidFill>
                <a:latin typeface="Montserrat" pitchFamily="34" charset="0"/>
                <a:ea typeface="Montserrat" pitchFamily="34" charset="-122"/>
                <a:cs typeface="Montserrat" pitchFamily="34" charset="-120"/>
              </a:rPr>
              <a:t>3.82 average rating</a:t>
            </a:r>
            <a:endParaRPr lang="en-US" sz="1050" dirty="0"/>
          </a:p>
        </p:txBody>
      </p:sp>
      <p:sp>
        <p:nvSpPr>
          <p:cNvPr id="19" name="Text 17"/>
          <p:cNvSpPr/>
          <p:nvPr/>
        </p:nvSpPr>
        <p:spPr>
          <a:xfrm>
            <a:off x="7489627" y="1153835"/>
            <a:ext cx="2370296" cy="257294"/>
          </a:xfrm>
          <a:prstGeom prst="rect">
            <a:avLst/>
          </a:prstGeom>
          <a:noFill/>
          <a:ln/>
        </p:spPr>
        <p:txBody>
          <a:bodyPr wrap="none" lIns="0" tIns="0" rIns="0" bIns="0" rtlCol="0" anchor="t"/>
          <a:lstStyle/>
          <a:p>
            <a:pPr algn="l" indent="0" marL="0">
              <a:lnSpc>
                <a:spcPts val="2000"/>
              </a:lnSpc>
              <a:buNone/>
            </a:pPr>
            <a:r>
              <a:rPr lang="en-US" sz="1550" dirty="0">
                <a:solidFill>
                  <a:srgbClr val="532418"/>
                </a:solidFill>
                <a:latin typeface="Marcellus" pitchFamily="34" charset="0"/>
                <a:ea typeface="Marcellus" pitchFamily="34" charset="-122"/>
                <a:cs typeface="Marcellus" pitchFamily="34" charset="-120"/>
              </a:rPr>
              <a:t>Shipping Type Comparison</a:t>
            </a:r>
            <a:endParaRPr lang="en-US" sz="1550" dirty="0"/>
          </a:p>
        </p:txBody>
      </p:sp>
      <p:sp>
        <p:nvSpPr>
          <p:cNvPr id="20" name="Text 18"/>
          <p:cNvSpPr/>
          <p:nvPr/>
        </p:nvSpPr>
        <p:spPr>
          <a:xfrm>
            <a:off x="7489627" y="1506617"/>
            <a:ext cx="5263872" cy="303133"/>
          </a:xfrm>
          <a:prstGeom prst="rect">
            <a:avLst/>
          </a:prstGeom>
          <a:noFill/>
          <a:ln/>
        </p:spPr>
        <p:txBody>
          <a:bodyPr wrap="square" lIns="0" tIns="0" rIns="0" bIns="0" rtlCol="0" anchor="t"/>
          <a:lstStyle/>
          <a:p>
            <a:pPr algn="l" indent="0" marL="0">
              <a:lnSpc>
                <a:spcPts val="1150"/>
              </a:lnSpc>
              <a:buNone/>
            </a:pPr>
            <a:r>
              <a:rPr lang="en-US" sz="1050" dirty="0">
                <a:solidFill>
                  <a:srgbClr val="67534F"/>
                </a:solidFill>
                <a:latin typeface="Montserrat" pitchFamily="34" charset="0"/>
                <a:ea typeface="Montserrat" pitchFamily="34" charset="-122"/>
                <a:cs typeface="Montserrat" pitchFamily="34" charset="-120"/>
              </a:rPr>
              <a:t>Express shipping customers spend an average of </a:t>
            </a:r>
            <a:pPr algn="l" indent="0" marL="0">
              <a:lnSpc>
                <a:spcPts val="1150"/>
              </a:lnSpc>
              <a:buNone/>
            </a:pPr>
            <a:r>
              <a:rPr lang="en-US" sz="1050" b="1" dirty="0">
                <a:solidFill>
                  <a:srgbClr val="67534F"/>
                </a:solidFill>
                <a:latin typeface="Montserrat" pitchFamily="34" charset="0"/>
                <a:ea typeface="Montserrat" pitchFamily="34" charset="-122"/>
                <a:cs typeface="Montserrat" pitchFamily="34" charset="-120"/>
              </a:rPr>
              <a:t>$60.48</a:t>
            </a:r>
            <a:pPr algn="l" indent="0" marL="0">
              <a:lnSpc>
                <a:spcPts val="1150"/>
              </a:lnSpc>
              <a:buNone/>
            </a:pPr>
            <a:r>
              <a:rPr lang="en-US" sz="1050" dirty="0">
                <a:solidFill>
                  <a:srgbClr val="67534F"/>
                </a:solidFill>
                <a:latin typeface="Montserrat" pitchFamily="34" charset="0"/>
                <a:ea typeface="Montserrat" pitchFamily="34" charset="-122"/>
                <a:cs typeface="Montserrat" pitchFamily="34" charset="-120"/>
              </a:rPr>
              <a:t> compared to </a:t>
            </a:r>
            <a:pPr algn="l" indent="0" marL="0">
              <a:lnSpc>
                <a:spcPts val="1150"/>
              </a:lnSpc>
              <a:buNone/>
            </a:pPr>
            <a:r>
              <a:rPr lang="en-US" sz="1050" b="1" dirty="0">
                <a:solidFill>
                  <a:srgbClr val="67534F"/>
                </a:solidFill>
                <a:latin typeface="Montserrat" pitchFamily="34" charset="0"/>
                <a:ea typeface="Montserrat" pitchFamily="34" charset="-122"/>
                <a:cs typeface="Montserrat" pitchFamily="34" charset="-120"/>
              </a:rPr>
              <a:t>$58.46</a:t>
            </a:r>
            <a:pPr algn="l" indent="0" marL="0">
              <a:lnSpc>
                <a:spcPts val="1150"/>
              </a:lnSpc>
              <a:buNone/>
            </a:pPr>
            <a:r>
              <a:rPr lang="en-US" sz="1050" dirty="0">
                <a:solidFill>
                  <a:srgbClr val="67534F"/>
                </a:solidFill>
                <a:latin typeface="Montserrat" pitchFamily="34" charset="0"/>
                <a:ea typeface="Montserrat" pitchFamily="34" charset="-122"/>
                <a:cs typeface="Montserrat" pitchFamily="34" charset="-120"/>
              </a:rPr>
              <a:t> for standard shipping users—a modest $2.02 difference.</a:t>
            </a:r>
            <a:endParaRPr lang="en-US" sz="1050" dirty="0"/>
          </a:p>
        </p:txBody>
      </p:sp>
      <p:sp>
        <p:nvSpPr>
          <p:cNvPr id="21" name="Text 19"/>
          <p:cNvSpPr/>
          <p:nvPr/>
        </p:nvSpPr>
        <p:spPr>
          <a:xfrm>
            <a:off x="7489627" y="1895713"/>
            <a:ext cx="5263872" cy="454700"/>
          </a:xfrm>
          <a:prstGeom prst="rect">
            <a:avLst/>
          </a:prstGeom>
          <a:noFill/>
          <a:ln/>
        </p:spPr>
        <p:txBody>
          <a:bodyPr wrap="square" lIns="0" tIns="0" rIns="0" bIns="0" rtlCol="0" anchor="t"/>
          <a:lstStyle/>
          <a:p>
            <a:pPr algn="l" indent="0" marL="0">
              <a:lnSpc>
                <a:spcPts val="1150"/>
              </a:lnSpc>
              <a:buNone/>
            </a:pPr>
            <a:r>
              <a:rPr lang="en-US" sz="1050" dirty="0">
                <a:solidFill>
                  <a:srgbClr val="67534F"/>
                </a:solidFill>
                <a:latin typeface="Montserrat" pitchFamily="34" charset="0"/>
                <a:ea typeface="Montserrat" pitchFamily="34" charset="-122"/>
                <a:cs typeface="Montserrat" pitchFamily="34" charset="-120"/>
              </a:rPr>
              <a:t>This suggests express shipping appeals to slightly higher-spending customers, presenting an opportunity to promote premium shipping options to increase average order value.</a:t>
            </a:r>
            <a:endParaRPr lang="en-US" sz="1050" dirty="0"/>
          </a:p>
        </p:txBody>
      </p:sp>
      <p:pic>
        <p:nvPicPr>
          <p:cNvPr id="22" name="Image 0" descr="preencoded.png">    </p:cNvPr>
          <p:cNvPicPr>
            <a:picLocks noChangeAspect="1"/>
          </p:cNvPicPr>
          <p:nvPr/>
        </p:nvPicPr>
        <p:blipFill>
          <a:blip r:embed="rId1"/>
          <a:stretch>
            <a:fillRect/>
          </a:stretch>
        </p:blipFill>
        <p:spPr>
          <a:xfrm>
            <a:off x="7489627" y="2457926"/>
            <a:ext cx="5263872" cy="52638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44097"/>
            <a:ext cx="6956703" cy="741759"/>
          </a:xfrm>
          <a:prstGeom prst="rect">
            <a:avLst/>
          </a:prstGeom>
          <a:noFill/>
          <a:ln/>
        </p:spPr>
        <p:txBody>
          <a:bodyPr wrap="none" lIns="0" tIns="0" rIns="0" bIns="0" rtlCol="0" anchor="t"/>
          <a:lstStyle/>
          <a:p>
            <a:pPr algn="l" indent="0" marL="0">
              <a:lnSpc>
                <a:spcPts val="5800"/>
              </a:lnSpc>
              <a:buNone/>
            </a:pPr>
            <a:r>
              <a:rPr lang="en-US" sz="4450" dirty="0">
                <a:solidFill>
                  <a:srgbClr val="532418"/>
                </a:solidFill>
                <a:latin typeface="Marcellus" pitchFamily="34" charset="0"/>
                <a:ea typeface="Marcellus" pitchFamily="34" charset="-122"/>
                <a:cs typeface="Marcellus" pitchFamily="34" charset="-120"/>
              </a:rPr>
              <a:t>Subscription Status Analysis</a:t>
            </a:r>
            <a:endParaRPr lang="en-US" sz="4450" dirty="0"/>
          </a:p>
        </p:txBody>
      </p:sp>
      <p:sp>
        <p:nvSpPr>
          <p:cNvPr id="3" name="Shape 1"/>
          <p:cNvSpPr/>
          <p:nvPr/>
        </p:nvSpPr>
        <p:spPr>
          <a:xfrm>
            <a:off x="650915" y="2383512"/>
            <a:ext cx="5212318" cy="4501872"/>
          </a:xfrm>
          <a:prstGeom prst="roundRect">
            <a:avLst>
              <a:gd name="adj" fmla="val 3174"/>
            </a:avLst>
          </a:prstGeom>
          <a:solidFill>
            <a:srgbClr val="6296FF">
              <a:alpha val="95000"/>
            </a:srgbClr>
          </a:solidFill>
          <a:ln/>
        </p:spPr>
      </p:sp>
      <p:sp>
        <p:nvSpPr>
          <p:cNvPr id="4" name="Text 2"/>
          <p:cNvSpPr/>
          <p:nvPr/>
        </p:nvSpPr>
        <p:spPr>
          <a:xfrm>
            <a:off x="849273" y="2705933"/>
            <a:ext cx="4815602" cy="654963"/>
          </a:xfrm>
          <a:prstGeom prst="rect">
            <a:avLst/>
          </a:prstGeom>
          <a:noFill/>
          <a:ln/>
        </p:spPr>
        <p:txBody>
          <a:bodyPr wrap="none" lIns="0" tIns="0" rIns="0" bIns="0" rtlCol="0" anchor="t"/>
          <a:lstStyle/>
          <a:p>
            <a:pPr algn="ctr" indent="0" marL="0">
              <a:lnSpc>
                <a:spcPts val="5150"/>
              </a:lnSpc>
              <a:buNone/>
            </a:pPr>
            <a:r>
              <a:rPr lang="en-US" sz="5150" dirty="0">
                <a:solidFill>
                  <a:srgbClr val="000000"/>
                </a:solidFill>
                <a:latin typeface="Marcellus" pitchFamily="34" charset="0"/>
                <a:ea typeface="Marcellus" pitchFamily="34" charset="-122"/>
                <a:cs typeface="Marcellus" pitchFamily="34" charset="-120"/>
              </a:rPr>
              <a:t>27%</a:t>
            </a:r>
            <a:endParaRPr lang="en-US" sz="5150" dirty="0"/>
          </a:p>
        </p:txBody>
      </p:sp>
      <p:sp>
        <p:nvSpPr>
          <p:cNvPr id="5" name="Text 3"/>
          <p:cNvSpPr/>
          <p:nvPr/>
        </p:nvSpPr>
        <p:spPr>
          <a:xfrm>
            <a:off x="1830586" y="3608903"/>
            <a:ext cx="2852976" cy="370761"/>
          </a:xfrm>
          <a:prstGeom prst="rect">
            <a:avLst/>
          </a:prstGeom>
          <a:noFill/>
          <a:ln/>
        </p:spPr>
        <p:txBody>
          <a:bodyPr wrap="none" lIns="0" tIns="0" rIns="0" bIns="0" rtlCol="0" anchor="t"/>
          <a:lstStyle/>
          <a:p>
            <a:pPr algn="ctr" indent="0" marL="0">
              <a:lnSpc>
                <a:spcPts val="2900"/>
              </a:lnSpc>
              <a:buNone/>
            </a:pPr>
            <a:r>
              <a:rPr lang="en-US" sz="2200" dirty="0">
                <a:solidFill>
                  <a:srgbClr val="000000"/>
                </a:solidFill>
                <a:latin typeface="Marcellus" pitchFamily="34" charset="0"/>
                <a:ea typeface="Marcellus" pitchFamily="34" charset="-122"/>
                <a:cs typeface="Marcellus" pitchFamily="34" charset="-120"/>
              </a:rPr>
              <a:t>Subscribers</a:t>
            </a:r>
            <a:endParaRPr lang="en-US" sz="2200" dirty="0"/>
          </a:p>
        </p:txBody>
      </p:sp>
      <p:sp>
        <p:nvSpPr>
          <p:cNvPr id="6" name="Text 4"/>
          <p:cNvSpPr/>
          <p:nvPr/>
        </p:nvSpPr>
        <p:spPr>
          <a:xfrm>
            <a:off x="849273" y="4178022"/>
            <a:ext cx="4815602" cy="258008"/>
          </a:xfrm>
          <a:prstGeom prst="rect">
            <a:avLst/>
          </a:prstGeom>
          <a:noFill/>
          <a:ln/>
        </p:spPr>
        <p:txBody>
          <a:bodyPr wrap="none" lIns="0" tIns="0" rIns="0" bIns="0" rtlCol="0" anchor="t"/>
          <a:lstStyle/>
          <a:p>
            <a:pPr algn="ctr" indent="0" marL="0">
              <a:lnSpc>
                <a:spcPts val="2000"/>
              </a:lnSpc>
              <a:buNone/>
            </a:pPr>
            <a:r>
              <a:rPr lang="en-US" sz="1550" dirty="0">
                <a:solidFill>
                  <a:srgbClr val="000000"/>
                </a:solidFill>
                <a:latin typeface="Montserrat" pitchFamily="34" charset="0"/>
                <a:ea typeface="Montserrat" pitchFamily="34" charset="-122"/>
                <a:cs typeface="Montserrat" pitchFamily="34" charset="-120"/>
              </a:rPr>
              <a:t>1,053 customers</a:t>
            </a:r>
            <a:endParaRPr lang="en-US" sz="1550" dirty="0"/>
          </a:p>
        </p:txBody>
      </p:sp>
      <p:sp>
        <p:nvSpPr>
          <p:cNvPr id="7" name="Text 5"/>
          <p:cNvSpPr/>
          <p:nvPr/>
        </p:nvSpPr>
        <p:spPr>
          <a:xfrm>
            <a:off x="849273" y="4932045"/>
            <a:ext cx="4815602" cy="654963"/>
          </a:xfrm>
          <a:prstGeom prst="rect">
            <a:avLst/>
          </a:prstGeom>
          <a:noFill/>
          <a:ln/>
        </p:spPr>
        <p:txBody>
          <a:bodyPr wrap="none" lIns="0" tIns="0" rIns="0" bIns="0" rtlCol="0" anchor="t"/>
          <a:lstStyle/>
          <a:p>
            <a:pPr algn="ctr" indent="0" marL="0">
              <a:lnSpc>
                <a:spcPts val="5150"/>
              </a:lnSpc>
              <a:buNone/>
            </a:pPr>
            <a:r>
              <a:rPr lang="en-US" sz="5150" dirty="0">
                <a:solidFill>
                  <a:srgbClr val="000000"/>
                </a:solidFill>
                <a:latin typeface="Marcellus" pitchFamily="34" charset="0"/>
                <a:ea typeface="Marcellus" pitchFamily="34" charset="-122"/>
                <a:cs typeface="Marcellus" pitchFamily="34" charset="-120"/>
              </a:rPr>
              <a:t>73%</a:t>
            </a:r>
            <a:endParaRPr lang="en-US" sz="5150" dirty="0"/>
          </a:p>
        </p:txBody>
      </p:sp>
      <p:sp>
        <p:nvSpPr>
          <p:cNvPr id="8" name="Text 6"/>
          <p:cNvSpPr/>
          <p:nvPr/>
        </p:nvSpPr>
        <p:spPr>
          <a:xfrm>
            <a:off x="1830586" y="5835015"/>
            <a:ext cx="2852976" cy="370761"/>
          </a:xfrm>
          <a:prstGeom prst="rect">
            <a:avLst/>
          </a:prstGeom>
          <a:noFill/>
          <a:ln/>
        </p:spPr>
        <p:txBody>
          <a:bodyPr wrap="none" lIns="0" tIns="0" rIns="0" bIns="0" rtlCol="0" anchor="t"/>
          <a:lstStyle/>
          <a:p>
            <a:pPr algn="ctr" indent="0" marL="0">
              <a:lnSpc>
                <a:spcPts val="2900"/>
              </a:lnSpc>
              <a:buNone/>
            </a:pPr>
            <a:r>
              <a:rPr lang="en-US" sz="2200" dirty="0">
                <a:solidFill>
                  <a:srgbClr val="000000"/>
                </a:solidFill>
                <a:latin typeface="Marcellus" pitchFamily="34" charset="0"/>
                <a:ea typeface="Marcellus" pitchFamily="34" charset="-122"/>
                <a:cs typeface="Marcellus" pitchFamily="34" charset="-120"/>
              </a:rPr>
              <a:t>Non-Subscribers</a:t>
            </a:r>
            <a:endParaRPr lang="en-US" sz="2200" dirty="0"/>
          </a:p>
        </p:txBody>
      </p:sp>
      <p:sp>
        <p:nvSpPr>
          <p:cNvPr id="9" name="Text 7"/>
          <p:cNvSpPr/>
          <p:nvPr/>
        </p:nvSpPr>
        <p:spPr>
          <a:xfrm>
            <a:off x="849273" y="6404134"/>
            <a:ext cx="4815602" cy="258008"/>
          </a:xfrm>
          <a:prstGeom prst="rect">
            <a:avLst/>
          </a:prstGeom>
          <a:noFill/>
          <a:ln/>
        </p:spPr>
        <p:txBody>
          <a:bodyPr wrap="none" lIns="0" tIns="0" rIns="0" bIns="0" rtlCol="0" anchor="t"/>
          <a:lstStyle/>
          <a:p>
            <a:pPr algn="ctr" indent="0" marL="0">
              <a:lnSpc>
                <a:spcPts val="2000"/>
              </a:lnSpc>
              <a:buNone/>
            </a:pPr>
            <a:r>
              <a:rPr lang="en-US" sz="1550" dirty="0">
                <a:solidFill>
                  <a:srgbClr val="000000"/>
                </a:solidFill>
                <a:latin typeface="Montserrat" pitchFamily="34" charset="0"/>
                <a:ea typeface="Montserrat" pitchFamily="34" charset="-122"/>
                <a:cs typeface="Montserrat" pitchFamily="34" charset="-120"/>
              </a:rPr>
              <a:t>2,847 customers</a:t>
            </a:r>
            <a:endParaRPr lang="en-US" sz="1550" dirty="0"/>
          </a:p>
        </p:txBody>
      </p:sp>
      <p:sp>
        <p:nvSpPr>
          <p:cNvPr id="10" name="Text 8"/>
          <p:cNvSpPr/>
          <p:nvPr/>
        </p:nvSpPr>
        <p:spPr>
          <a:xfrm>
            <a:off x="6212086" y="2581870"/>
            <a:ext cx="3249216" cy="370761"/>
          </a:xfrm>
          <a:prstGeom prst="rect">
            <a:avLst/>
          </a:prstGeom>
          <a:noFill/>
          <a:ln/>
        </p:spPr>
        <p:txBody>
          <a:bodyPr wrap="none" lIns="0" tIns="0" rIns="0" bIns="0" rtlCol="0" anchor="t"/>
          <a:lstStyle/>
          <a:p>
            <a:pPr algn="l" indent="0" marL="0">
              <a:lnSpc>
                <a:spcPts val="2900"/>
              </a:lnSpc>
              <a:buNone/>
            </a:pPr>
            <a:r>
              <a:rPr lang="en-US" sz="2200" dirty="0">
                <a:solidFill>
                  <a:srgbClr val="532418"/>
                </a:solidFill>
                <a:latin typeface="Marcellus" pitchFamily="34" charset="0"/>
                <a:ea typeface="Marcellus" pitchFamily="34" charset="-122"/>
                <a:cs typeface="Marcellus" pitchFamily="34" charset="-120"/>
              </a:rPr>
              <a:t>Subscription Opportunity</a:t>
            </a:r>
            <a:endParaRPr lang="en-US" sz="2200" dirty="0"/>
          </a:p>
        </p:txBody>
      </p:sp>
      <p:sp>
        <p:nvSpPr>
          <p:cNvPr id="11" name="Text 9"/>
          <p:cNvSpPr/>
          <p:nvPr/>
        </p:nvSpPr>
        <p:spPr>
          <a:xfrm>
            <a:off x="6212086" y="3150989"/>
            <a:ext cx="7632025" cy="774025"/>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Subscribers average </a:t>
            </a:r>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$59.49</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 per purchase while non-subscribers spend </a:t>
            </a:r>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$59.87</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—nearly identical spending patterns. However, non-subscribers generate </a:t>
            </a:r>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$170,436</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 in total revenue versus </a:t>
            </a:r>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$62,645</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 from subscribers.</a:t>
            </a:r>
            <a:endParaRPr lang="en-US" sz="1550" dirty="0"/>
          </a:p>
        </p:txBody>
      </p:sp>
      <p:sp>
        <p:nvSpPr>
          <p:cNvPr id="12" name="Text 10"/>
          <p:cNvSpPr/>
          <p:nvPr/>
        </p:nvSpPr>
        <p:spPr>
          <a:xfrm>
            <a:off x="6212086" y="4103608"/>
            <a:ext cx="7632025" cy="1032034"/>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The minimal spending difference but massive revenue gap highlights a significant opportunity: converting more customers to subscription status could stabilize revenue streams without requiring increased per-transaction spending.</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1168003"/>
            <a:ext cx="2377559" cy="355997"/>
          </a:xfrm>
          <a:prstGeom prst="roundRect">
            <a:avLst>
              <a:gd name="adj" fmla="val 18733"/>
            </a:avLst>
          </a:prstGeom>
          <a:noFill/>
          <a:ln w="15240">
            <a:solidFill>
              <a:srgbClr val="FF954F"/>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8092" y="1266587"/>
            <a:ext cx="158710" cy="158710"/>
          </a:xfrm>
          <a:prstGeom prst="rect">
            <a:avLst/>
          </a:prstGeom>
        </p:spPr>
      </p:pic>
      <p:sp>
        <p:nvSpPr>
          <p:cNvPr id="4" name="Text 1"/>
          <p:cNvSpPr/>
          <p:nvPr/>
        </p:nvSpPr>
        <p:spPr>
          <a:xfrm>
            <a:off x="1166098" y="1242774"/>
            <a:ext cx="1870948" cy="206454"/>
          </a:xfrm>
          <a:prstGeom prst="rect">
            <a:avLst/>
          </a:prstGeom>
          <a:noFill/>
          <a:ln/>
        </p:spPr>
        <p:txBody>
          <a:bodyPr wrap="none" lIns="0" tIns="0" rIns="0" bIns="0" rtlCol="0" anchor="t"/>
          <a:lstStyle/>
          <a:p>
            <a:pPr algn="l" indent="0" marL="0">
              <a:lnSpc>
                <a:spcPts val="1600"/>
              </a:lnSpc>
              <a:buNone/>
            </a:pPr>
            <a:r>
              <a:rPr lang="en-US" sz="1250" dirty="0">
                <a:solidFill>
                  <a:srgbClr val="FF954F"/>
                </a:solidFill>
                <a:latin typeface="Montserrat" pitchFamily="34" charset="0"/>
                <a:ea typeface="Montserrat" pitchFamily="34" charset="-122"/>
                <a:cs typeface="Montserrat" pitchFamily="34" charset="-120"/>
              </a:rPr>
              <a:t>CUSTOMER SEGMENTS</a:t>
            </a:r>
            <a:endParaRPr lang="en-US" sz="1250" dirty="0"/>
          </a:p>
        </p:txBody>
      </p:sp>
      <p:sp>
        <p:nvSpPr>
          <p:cNvPr id="5" name="Text 2"/>
          <p:cNvSpPr/>
          <p:nvPr/>
        </p:nvSpPr>
        <p:spPr>
          <a:xfrm>
            <a:off x="793790" y="1603296"/>
            <a:ext cx="8247698" cy="741759"/>
          </a:xfrm>
          <a:prstGeom prst="rect">
            <a:avLst/>
          </a:prstGeom>
          <a:noFill/>
          <a:ln/>
        </p:spPr>
        <p:txBody>
          <a:bodyPr wrap="none" lIns="0" tIns="0" rIns="0" bIns="0" rtlCol="0" anchor="t"/>
          <a:lstStyle/>
          <a:p>
            <a:pPr algn="l" indent="0" marL="0">
              <a:lnSpc>
                <a:spcPts val="5800"/>
              </a:lnSpc>
              <a:buNone/>
            </a:pPr>
            <a:r>
              <a:rPr lang="en-US" sz="4450" dirty="0">
                <a:solidFill>
                  <a:srgbClr val="532418"/>
                </a:solidFill>
                <a:latin typeface="Marcellus" pitchFamily="34" charset="0"/>
                <a:ea typeface="Marcellus" pitchFamily="34" charset="-122"/>
                <a:cs typeface="Marcellus" pitchFamily="34" charset="-120"/>
              </a:rPr>
              <a:t>Customer Loyalty Segmentation</a:t>
            </a:r>
            <a:endParaRPr lang="en-US" sz="4450" dirty="0"/>
          </a:p>
        </p:txBody>
      </p:sp>
      <p:pic>
        <p:nvPicPr>
          <p:cNvPr id="6" name="Image 1" descr="preencoded.png">    </p:cNvPr>
          <p:cNvPicPr>
            <a:picLocks noChangeAspect="1"/>
          </p:cNvPicPr>
          <p:nvPr/>
        </p:nvPicPr>
        <p:blipFill>
          <a:blip r:embed="rId3"/>
          <a:stretch>
            <a:fillRect/>
          </a:stretch>
        </p:blipFill>
        <p:spPr>
          <a:xfrm>
            <a:off x="793790" y="2642711"/>
            <a:ext cx="2425660" cy="2425660"/>
          </a:xfrm>
          <a:prstGeom prst="rect">
            <a:avLst/>
          </a:prstGeom>
        </p:spPr>
      </p:pic>
      <p:sp>
        <p:nvSpPr>
          <p:cNvPr id="7" name="Text 3"/>
          <p:cNvSpPr/>
          <p:nvPr/>
        </p:nvSpPr>
        <p:spPr>
          <a:xfrm>
            <a:off x="793790" y="5316379"/>
            <a:ext cx="285297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Loyal Customers</a:t>
            </a:r>
            <a:endParaRPr lang="en-US" sz="2200" dirty="0"/>
          </a:p>
        </p:txBody>
      </p:sp>
      <p:sp>
        <p:nvSpPr>
          <p:cNvPr id="8" name="Text 4"/>
          <p:cNvSpPr/>
          <p:nvPr/>
        </p:nvSpPr>
        <p:spPr>
          <a:xfrm>
            <a:off x="793790" y="5806202"/>
            <a:ext cx="4182189" cy="516017"/>
          </a:xfrm>
          <a:prstGeom prst="rect">
            <a:avLst/>
          </a:prstGeom>
          <a:noFill/>
          <a:ln/>
        </p:spPr>
        <p:txBody>
          <a:bodyPr wrap="square" lIns="0" tIns="0" rIns="0" bIns="0" rtlCol="0" anchor="t"/>
          <a:lstStyle/>
          <a:p>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3,116 customers (80%)</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 with multiple repeat purchases form our core base</a:t>
            </a:r>
            <a:endParaRPr lang="en-US" sz="1550" dirty="0"/>
          </a:p>
        </p:txBody>
      </p:sp>
      <p:pic>
        <p:nvPicPr>
          <p:cNvPr id="9" name="Image 2" descr="preencoded.png">    </p:cNvPr>
          <p:cNvPicPr>
            <a:picLocks noChangeAspect="1"/>
          </p:cNvPicPr>
          <p:nvPr/>
        </p:nvPicPr>
        <p:blipFill>
          <a:blip r:embed="rId4"/>
          <a:stretch>
            <a:fillRect/>
          </a:stretch>
        </p:blipFill>
        <p:spPr>
          <a:xfrm>
            <a:off x="5223986" y="2642711"/>
            <a:ext cx="2425660" cy="2425660"/>
          </a:xfrm>
          <a:prstGeom prst="rect">
            <a:avLst/>
          </a:prstGeom>
        </p:spPr>
      </p:pic>
      <p:sp>
        <p:nvSpPr>
          <p:cNvPr id="10" name="Text 5"/>
          <p:cNvSpPr/>
          <p:nvPr/>
        </p:nvSpPr>
        <p:spPr>
          <a:xfrm>
            <a:off x="5223986" y="5316379"/>
            <a:ext cx="285297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Returning Customers</a:t>
            </a:r>
            <a:endParaRPr lang="en-US" sz="2200" dirty="0"/>
          </a:p>
        </p:txBody>
      </p:sp>
      <p:sp>
        <p:nvSpPr>
          <p:cNvPr id="11" name="Text 6"/>
          <p:cNvSpPr/>
          <p:nvPr/>
        </p:nvSpPr>
        <p:spPr>
          <a:xfrm>
            <a:off x="5223986" y="5806202"/>
            <a:ext cx="4182308" cy="516017"/>
          </a:xfrm>
          <a:prstGeom prst="rect">
            <a:avLst/>
          </a:prstGeom>
          <a:noFill/>
          <a:ln/>
        </p:spPr>
        <p:txBody>
          <a:bodyPr wrap="square" lIns="0" tIns="0" rIns="0" bIns="0" rtlCol="0" anchor="t"/>
          <a:lstStyle/>
          <a:p>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701 customers (18%)</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 showing promising engagement and growth potential</a:t>
            </a:r>
            <a:endParaRPr lang="en-US" sz="1550" dirty="0"/>
          </a:p>
        </p:txBody>
      </p:sp>
      <p:pic>
        <p:nvPicPr>
          <p:cNvPr id="12" name="Image 3" descr="preencoded.png">    </p:cNvPr>
          <p:cNvPicPr>
            <a:picLocks noChangeAspect="1"/>
          </p:cNvPicPr>
          <p:nvPr/>
        </p:nvPicPr>
        <p:blipFill>
          <a:blip r:embed="rId5"/>
          <a:stretch>
            <a:fillRect/>
          </a:stretch>
        </p:blipFill>
        <p:spPr>
          <a:xfrm>
            <a:off x="9654302" y="2642711"/>
            <a:ext cx="2425660" cy="2425660"/>
          </a:xfrm>
          <a:prstGeom prst="rect">
            <a:avLst/>
          </a:prstGeom>
        </p:spPr>
      </p:pic>
      <p:sp>
        <p:nvSpPr>
          <p:cNvPr id="13" name="Text 7"/>
          <p:cNvSpPr/>
          <p:nvPr/>
        </p:nvSpPr>
        <p:spPr>
          <a:xfrm>
            <a:off x="9654302" y="5316379"/>
            <a:ext cx="285297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New Customers</a:t>
            </a:r>
            <a:endParaRPr lang="en-US" sz="2200" dirty="0"/>
          </a:p>
        </p:txBody>
      </p:sp>
      <p:sp>
        <p:nvSpPr>
          <p:cNvPr id="14" name="Text 8"/>
          <p:cNvSpPr/>
          <p:nvPr/>
        </p:nvSpPr>
        <p:spPr>
          <a:xfrm>
            <a:off x="9654302" y="5806202"/>
            <a:ext cx="4182308" cy="516017"/>
          </a:xfrm>
          <a:prstGeom prst="rect">
            <a:avLst/>
          </a:prstGeom>
          <a:noFill/>
          <a:ln/>
        </p:spPr>
        <p:txBody>
          <a:bodyPr wrap="square" lIns="0" tIns="0" rIns="0" bIns="0" rtlCol="0" anchor="t"/>
          <a:lstStyle/>
          <a:p>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83 customers (2%)</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 representing fresh acquisition opportunities</a:t>
            </a:r>
            <a:endParaRPr lang="en-US" sz="1550" dirty="0"/>
          </a:p>
        </p:txBody>
      </p:sp>
      <p:sp>
        <p:nvSpPr>
          <p:cNvPr id="15" name="Text 9"/>
          <p:cNvSpPr/>
          <p:nvPr/>
        </p:nvSpPr>
        <p:spPr>
          <a:xfrm>
            <a:off x="793790" y="6545461"/>
            <a:ext cx="13042821" cy="516017"/>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Among repeat buyers with 5+ purchases, </a:t>
            </a:r>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958 are subscribers</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 while </a:t>
            </a:r>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2,518 are not</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—indicating that frequent purchasers don't necessarily convert to subscriptions, presenting a clear retention opportunity.</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424226"/>
            <a:ext cx="9172337" cy="741759"/>
          </a:xfrm>
          <a:prstGeom prst="rect">
            <a:avLst/>
          </a:prstGeom>
          <a:noFill/>
          <a:ln/>
        </p:spPr>
        <p:txBody>
          <a:bodyPr wrap="none" lIns="0" tIns="0" rIns="0" bIns="0" rtlCol="0" anchor="t"/>
          <a:lstStyle/>
          <a:p>
            <a:pPr algn="l" indent="0" marL="0">
              <a:lnSpc>
                <a:spcPts val="5800"/>
              </a:lnSpc>
              <a:buNone/>
            </a:pPr>
            <a:r>
              <a:rPr lang="en-US" sz="4450" dirty="0">
                <a:solidFill>
                  <a:srgbClr val="532418"/>
                </a:solidFill>
                <a:latin typeface="Marcellus" pitchFamily="34" charset="0"/>
                <a:ea typeface="Marcellus" pitchFamily="34" charset="-122"/>
                <a:cs typeface="Marcellus" pitchFamily="34" charset="-120"/>
              </a:rPr>
              <a:t>Revenue Distribution by Age Group</a:t>
            </a:r>
            <a:endParaRPr lang="en-US" sz="4450" dirty="0"/>
          </a:p>
        </p:txBody>
      </p:sp>
      <p:pic>
        <p:nvPicPr>
          <p:cNvPr id="3" name="Image 0" descr="preencoded.png">    </p:cNvPr>
          <p:cNvPicPr>
            <a:picLocks noChangeAspect="1"/>
          </p:cNvPicPr>
          <p:nvPr/>
        </p:nvPicPr>
        <p:blipFill>
          <a:blip r:embed="rId1"/>
          <a:stretch>
            <a:fillRect/>
          </a:stretch>
        </p:blipFill>
        <p:spPr>
          <a:xfrm>
            <a:off x="793790" y="2686883"/>
            <a:ext cx="6955631" cy="3895130"/>
          </a:xfrm>
          <a:prstGeom prst="rect">
            <a:avLst/>
          </a:prstGeom>
        </p:spPr>
      </p:pic>
      <p:sp>
        <p:nvSpPr>
          <p:cNvPr id="4" name="Text 1"/>
          <p:cNvSpPr/>
          <p:nvPr/>
        </p:nvSpPr>
        <p:spPr>
          <a:xfrm>
            <a:off x="8241149" y="2661999"/>
            <a:ext cx="3687128" cy="370761"/>
          </a:xfrm>
          <a:prstGeom prst="rect">
            <a:avLst/>
          </a:prstGeom>
          <a:noFill/>
          <a:ln/>
        </p:spPr>
        <p:txBody>
          <a:bodyPr wrap="none" lIns="0" tIns="0" rIns="0" bIns="0" rtlCol="0" anchor="t"/>
          <a:lstStyle/>
          <a:p>
            <a:pPr algn="l" indent="0" marL="0">
              <a:lnSpc>
                <a:spcPts val="2900"/>
              </a:lnSpc>
              <a:buNone/>
            </a:pPr>
            <a:r>
              <a:rPr lang="en-US" sz="2200" dirty="0">
                <a:solidFill>
                  <a:srgbClr val="532418"/>
                </a:solidFill>
                <a:latin typeface="Marcellus" pitchFamily="34" charset="0"/>
                <a:ea typeface="Marcellus" pitchFamily="34" charset="-122"/>
                <a:cs typeface="Marcellus" pitchFamily="34" charset="-120"/>
              </a:rPr>
              <a:t>Balanced Age Demographics</a:t>
            </a:r>
            <a:endParaRPr lang="en-US" sz="2200" dirty="0"/>
          </a:p>
        </p:txBody>
      </p:sp>
      <p:sp>
        <p:nvSpPr>
          <p:cNvPr id="5" name="Text 2"/>
          <p:cNvSpPr/>
          <p:nvPr/>
        </p:nvSpPr>
        <p:spPr>
          <a:xfrm>
            <a:off x="8241149" y="3231118"/>
            <a:ext cx="5602962" cy="774025"/>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Revenue distribution across age groups is remarkably balanced, with Young Adults leading at </a:t>
            </a:r>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$62,143</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 and Seniors contributing </a:t>
            </a:r>
            <a:pPr algn="l" indent="0" marL="0">
              <a:lnSpc>
                <a:spcPts val="2000"/>
              </a:lnSpc>
              <a:buNone/>
            </a:pPr>
            <a:r>
              <a:rPr lang="en-US" sz="1550" b="1" dirty="0">
                <a:solidFill>
                  <a:srgbClr val="67534F"/>
                </a:solidFill>
                <a:latin typeface="Montserrat" pitchFamily="34" charset="0"/>
                <a:ea typeface="Montserrat" pitchFamily="34" charset="-122"/>
                <a:cs typeface="Montserrat" pitchFamily="34" charset="-120"/>
              </a:rPr>
              <a:t>$55,763</a:t>
            </a:r>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a:t>
            </a:r>
            <a:endParaRPr lang="en-US" sz="1550" dirty="0"/>
          </a:p>
        </p:txBody>
      </p:sp>
      <p:sp>
        <p:nvSpPr>
          <p:cNvPr id="6" name="Text 3"/>
          <p:cNvSpPr/>
          <p:nvPr/>
        </p:nvSpPr>
        <p:spPr>
          <a:xfrm>
            <a:off x="8241149" y="4183737"/>
            <a:ext cx="5602962" cy="1032034"/>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This even distribution suggests our product mix appeals across generations, but also indicates untapped potential for age-specific marketing campaigns and product positioning strategies.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664488"/>
            <a:ext cx="3143607" cy="325517"/>
          </a:xfrm>
          <a:prstGeom prst="roundRect">
            <a:avLst>
              <a:gd name="adj" fmla="val 20487"/>
            </a:avLst>
          </a:prstGeom>
          <a:solidFill>
            <a:srgbClr val="FFE0CC"/>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2852" y="747832"/>
            <a:ext cx="158710" cy="158710"/>
          </a:xfrm>
          <a:prstGeom prst="rect">
            <a:avLst/>
          </a:prstGeom>
        </p:spPr>
      </p:pic>
      <p:sp>
        <p:nvSpPr>
          <p:cNvPr id="4" name="Text 1"/>
          <p:cNvSpPr/>
          <p:nvPr/>
        </p:nvSpPr>
        <p:spPr>
          <a:xfrm>
            <a:off x="1150858" y="724019"/>
            <a:ext cx="2667476" cy="206454"/>
          </a:xfrm>
          <a:prstGeom prst="rect">
            <a:avLst/>
          </a:prstGeom>
          <a:noFill/>
          <a:ln/>
        </p:spPr>
        <p:txBody>
          <a:bodyPr wrap="none" lIns="0" tIns="0" rIns="0" bIns="0" rtlCol="0" anchor="t"/>
          <a:lstStyle/>
          <a:p>
            <a:pPr algn="l" indent="0" marL="0">
              <a:lnSpc>
                <a:spcPts val="1600"/>
              </a:lnSpc>
              <a:buNone/>
            </a:pPr>
            <a:r>
              <a:rPr lang="en-US" sz="1250" dirty="0">
                <a:solidFill>
                  <a:srgbClr val="67534F"/>
                </a:solidFill>
                <a:latin typeface="Montserrat" pitchFamily="34" charset="0"/>
                <a:ea typeface="Montserrat" pitchFamily="34" charset="-122"/>
                <a:cs typeface="Montserrat" pitchFamily="34" charset="-120"/>
              </a:rPr>
              <a:t>STRATEGIC RECOMMENDATIONS</a:t>
            </a:r>
            <a:endParaRPr lang="en-US" sz="1250" dirty="0"/>
          </a:p>
        </p:txBody>
      </p:sp>
      <p:sp>
        <p:nvSpPr>
          <p:cNvPr id="5" name="Text 2"/>
          <p:cNvSpPr/>
          <p:nvPr/>
        </p:nvSpPr>
        <p:spPr>
          <a:xfrm>
            <a:off x="793790" y="1069300"/>
            <a:ext cx="6213396" cy="741759"/>
          </a:xfrm>
          <a:prstGeom prst="rect">
            <a:avLst/>
          </a:prstGeom>
          <a:noFill/>
          <a:ln/>
        </p:spPr>
        <p:txBody>
          <a:bodyPr wrap="none" lIns="0" tIns="0" rIns="0" bIns="0" rtlCol="0" anchor="t"/>
          <a:lstStyle/>
          <a:p>
            <a:pPr algn="l" indent="0" marL="0">
              <a:lnSpc>
                <a:spcPts val="5800"/>
              </a:lnSpc>
              <a:buNone/>
            </a:pPr>
            <a:r>
              <a:rPr lang="en-US" sz="4450" dirty="0">
                <a:solidFill>
                  <a:srgbClr val="532418"/>
                </a:solidFill>
                <a:latin typeface="Marcellus" pitchFamily="34" charset="0"/>
                <a:ea typeface="Marcellus" pitchFamily="34" charset="-122"/>
                <a:cs typeface="Marcellus" pitchFamily="34" charset="-120"/>
              </a:rPr>
              <a:t>Data-Driven Action Plan</a:t>
            </a:r>
            <a:endParaRPr lang="en-US" sz="4450" dirty="0"/>
          </a:p>
        </p:txBody>
      </p:sp>
      <p:sp>
        <p:nvSpPr>
          <p:cNvPr id="6" name="Shape 3"/>
          <p:cNvSpPr/>
          <p:nvPr/>
        </p:nvSpPr>
        <p:spPr>
          <a:xfrm>
            <a:off x="793790" y="2108716"/>
            <a:ext cx="4215289" cy="2757964"/>
          </a:xfrm>
          <a:prstGeom prst="roundRect">
            <a:avLst>
              <a:gd name="adj" fmla="val 3022"/>
            </a:avLst>
          </a:prstGeom>
          <a:solidFill>
            <a:srgbClr val="FFFFF4"/>
          </a:solidFill>
          <a:ln w="22860">
            <a:solidFill>
              <a:srgbClr val="FFE0CC"/>
            </a:solidFill>
            <a:prstDash val="solid"/>
          </a:ln>
        </p:spPr>
      </p:sp>
      <p:sp>
        <p:nvSpPr>
          <p:cNvPr id="7" name="Shape 4"/>
          <p:cNvSpPr/>
          <p:nvPr/>
        </p:nvSpPr>
        <p:spPr>
          <a:xfrm>
            <a:off x="1015008" y="2329934"/>
            <a:ext cx="595313" cy="595313"/>
          </a:xfrm>
          <a:prstGeom prst="roundRect">
            <a:avLst>
              <a:gd name="adj" fmla="val 15358451"/>
            </a:avLst>
          </a:prstGeom>
          <a:solidFill>
            <a:srgbClr val="FF954F"/>
          </a:solidFill>
          <a:ln/>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8719" y="2493526"/>
            <a:ext cx="267891" cy="267891"/>
          </a:xfrm>
          <a:prstGeom prst="rect">
            <a:avLst/>
          </a:prstGeom>
        </p:spPr>
      </p:pic>
      <p:sp>
        <p:nvSpPr>
          <p:cNvPr id="9" name="Text 5"/>
          <p:cNvSpPr/>
          <p:nvPr/>
        </p:nvSpPr>
        <p:spPr>
          <a:xfrm>
            <a:off x="1015008" y="3123605"/>
            <a:ext cx="285297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Boost Subscriptions</a:t>
            </a:r>
            <a:endParaRPr lang="en-US" sz="2200" dirty="0"/>
          </a:p>
        </p:txBody>
      </p:sp>
      <p:sp>
        <p:nvSpPr>
          <p:cNvPr id="10" name="Text 6"/>
          <p:cNvSpPr/>
          <p:nvPr/>
        </p:nvSpPr>
        <p:spPr>
          <a:xfrm>
            <a:off x="1015008" y="3613428"/>
            <a:ext cx="3772853" cy="1032034"/>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Promote exclusive benefits to convert the 73% non-subscriber base, especially targeting the 2,518 repeat buyers without subscriptions</a:t>
            </a:r>
            <a:endParaRPr lang="en-US" sz="1550" dirty="0"/>
          </a:p>
        </p:txBody>
      </p:sp>
      <p:sp>
        <p:nvSpPr>
          <p:cNvPr id="11" name="Shape 7"/>
          <p:cNvSpPr/>
          <p:nvPr/>
        </p:nvSpPr>
        <p:spPr>
          <a:xfrm>
            <a:off x="5207437" y="2108716"/>
            <a:ext cx="4215408" cy="2757964"/>
          </a:xfrm>
          <a:prstGeom prst="roundRect">
            <a:avLst>
              <a:gd name="adj" fmla="val 3022"/>
            </a:avLst>
          </a:prstGeom>
          <a:solidFill>
            <a:srgbClr val="FFFFF4"/>
          </a:solidFill>
          <a:ln w="22860">
            <a:solidFill>
              <a:srgbClr val="FFE0CC"/>
            </a:solidFill>
            <a:prstDash val="solid"/>
          </a:ln>
        </p:spPr>
      </p:sp>
      <p:sp>
        <p:nvSpPr>
          <p:cNvPr id="12" name="Shape 8"/>
          <p:cNvSpPr/>
          <p:nvPr/>
        </p:nvSpPr>
        <p:spPr>
          <a:xfrm>
            <a:off x="5428655" y="2329934"/>
            <a:ext cx="595313" cy="595313"/>
          </a:xfrm>
          <a:prstGeom prst="roundRect">
            <a:avLst>
              <a:gd name="adj" fmla="val 15358451"/>
            </a:avLst>
          </a:prstGeom>
          <a:solidFill>
            <a:srgbClr val="FF954F"/>
          </a:solidFill>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92366" y="2493526"/>
            <a:ext cx="267891" cy="267891"/>
          </a:xfrm>
          <a:prstGeom prst="rect">
            <a:avLst/>
          </a:prstGeom>
        </p:spPr>
      </p:pic>
      <p:sp>
        <p:nvSpPr>
          <p:cNvPr id="14" name="Text 9"/>
          <p:cNvSpPr/>
          <p:nvPr/>
        </p:nvSpPr>
        <p:spPr>
          <a:xfrm>
            <a:off x="5428655" y="3123605"/>
            <a:ext cx="285297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Loyalty Programs</a:t>
            </a:r>
            <a:endParaRPr lang="en-US" sz="2200" dirty="0"/>
          </a:p>
        </p:txBody>
      </p:sp>
      <p:sp>
        <p:nvSpPr>
          <p:cNvPr id="15" name="Text 10"/>
          <p:cNvSpPr/>
          <p:nvPr/>
        </p:nvSpPr>
        <p:spPr>
          <a:xfrm>
            <a:off x="5428655" y="3613428"/>
            <a:ext cx="3772972" cy="774025"/>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Reward the 701 returning customers to accelerate their journey into the loyal segment of 3,116 customers</a:t>
            </a:r>
            <a:endParaRPr lang="en-US" sz="1550" dirty="0"/>
          </a:p>
        </p:txBody>
      </p:sp>
      <p:sp>
        <p:nvSpPr>
          <p:cNvPr id="16" name="Shape 11"/>
          <p:cNvSpPr/>
          <p:nvPr/>
        </p:nvSpPr>
        <p:spPr>
          <a:xfrm>
            <a:off x="9621203" y="2108716"/>
            <a:ext cx="4215289" cy="2757964"/>
          </a:xfrm>
          <a:prstGeom prst="roundRect">
            <a:avLst>
              <a:gd name="adj" fmla="val 3022"/>
            </a:avLst>
          </a:prstGeom>
          <a:solidFill>
            <a:srgbClr val="FFFFF4"/>
          </a:solidFill>
          <a:ln w="22860">
            <a:solidFill>
              <a:srgbClr val="FFE0CC"/>
            </a:solidFill>
            <a:prstDash val="solid"/>
          </a:ln>
        </p:spPr>
      </p:sp>
      <p:sp>
        <p:nvSpPr>
          <p:cNvPr id="17" name="Shape 12"/>
          <p:cNvSpPr/>
          <p:nvPr/>
        </p:nvSpPr>
        <p:spPr>
          <a:xfrm>
            <a:off x="9842421" y="2329934"/>
            <a:ext cx="595313" cy="595313"/>
          </a:xfrm>
          <a:prstGeom prst="roundRect">
            <a:avLst>
              <a:gd name="adj" fmla="val 15358451"/>
            </a:avLst>
          </a:prstGeom>
          <a:solidFill>
            <a:srgbClr val="FF954F"/>
          </a:solidFill>
          <a:ln/>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6132" y="2493526"/>
            <a:ext cx="267891" cy="267891"/>
          </a:xfrm>
          <a:prstGeom prst="rect">
            <a:avLst/>
          </a:prstGeom>
        </p:spPr>
      </p:pic>
      <p:sp>
        <p:nvSpPr>
          <p:cNvPr id="19" name="Text 13"/>
          <p:cNvSpPr/>
          <p:nvPr/>
        </p:nvSpPr>
        <p:spPr>
          <a:xfrm>
            <a:off x="9842421" y="3123605"/>
            <a:ext cx="285297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Optimize Discounts</a:t>
            </a:r>
            <a:endParaRPr lang="en-US" sz="2200" dirty="0"/>
          </a:p>
        </p:txBody>
      </p:sp>
      <p:sp>
        <p:nvSpPr>
          <p:cNvPr id="20" name="Text 14"/>
          <p:cNvSpPr/>
          <p:nvPr/>
        </p:nvSpPr>
        <p:spPr>
          <a:xfrm>
            <a:off x="9842421" y="3613428"/>
            <a:ext cx="3772853" cy="1032034"/>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Review discount strategy for products like Hats (50% discount rate) and Sneakers (49.66%) to balance sales growth with margin protection</a:t>
            </a:r>
            <a:endParaRPr lang="en-US" sz="1550" dirty="0"/>
          </a:p>
        </p:txBody>
      </p:sp>
      <p:sp>
        <p:nvSpPr>
          <p:cNvPr id="21" name="Shape 15"/>
          <p:cNvSpPr/>
          <p:nvPr/>
        </p:nvSpPr>
        <p:spPr>
          <a:xfrm>
            <a:off x="793790" y="5065038"/>
            <a:ext cx="6422112" cy="2499955"/>
          </a:xfrm>
          <a:prstGeom prst="roundRect">
            <a:avLst>
              <a:gd name="adj" fmla="val 3334"/>
            </a:avLst>
          </a:prstGeom>
          <a:solidFill>
            <a:srgbClr val="FFFFF4"/>
          </a:solidFill>
          <a:ln w="22860">
            <a:solidFill>
              <a:srgbClr val="FFE0CC"/>
            </a:solidFill>
            <a:prstDash val="solid"/>
          </a:ln>
        </p:spPr>
      </p:sp>
      <p:sp>
        <p:nvSpPr>
          <p:cNvPr id="22" name="Shape 16"/>
          <p:cNvSpPr/>
          <p:nvPr/>
        </p:nvSpPr>
        <p:spPr>
          <a:xfrm>
            <a:off x="1015008" y="5286256"/>
            <a:ext cx="595313" cy="595313"/>
          </a:xfrm>
          <a:prstGeom prst="roundRect">
            <a:avLst>
              <a:gd name="adj" fmla="val 15358451"/>
            </a:avLst>
          </a:prstGeom>
          <a:solidFill>
            <a:srgbClr val="FF954F"/>
          </a:solidFill>
          <a:ln/>
        </p:spPr>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8719" y="5449848"/>
            <a:ext cx="267891" cy="267891"/>
          </a:xfrm>
          <a:prstGeom prst="rect">
            <a:avLst/>
          </a:prstGeom>
        </p:spPr>
      </p:pic>
      <p:sp>
        <p:nvSpPr>
          <p:cNvPr id="24" name="Text 17"/>
          <p:cNvSpPr/>
          <p:nvPr/>
        </p:nvSpPr>
        <p:spPr>
          <a:xfrm>
            <a:off x="1015008" y="6079927"/>
            <a:ext cx="285297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Product Positioning</a:t>
            </a:r>
            <a:endParaRPr lang="en-US" sz="2200" dirty="0"/>
          </a:p>
        </p:txBody>
      </p:sp>
      <p:sp>
        <p:nvSpPr>
          <p:cNvPr id="25" name="Text 18"/>
          <p:cNvSpPr/>
          <p:nvPr/>
        </p:nvSpPr>
        <p:spPr>
          <a:xfrm>
            <a:off x="1015008" y="6569750"/>
            <a:ext cx="5979676" cy="516017"/>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Highlight top-rated items (Gloves, Sandals, Boots) and best-sellers (Blouse, Jewelry) in marketing campaigns</a:t>
            </a:r>
            <a:endParaRPr lang="en-US" sz="1550" dirty="0"/>
          </a:p>
        </p:txBody>
      </p:sp>
      <p:sp>
        <p:nvSpPr>
          <p:cNvPr id="26" name="Shape 19"/>
          <p:cNvSpPr/>
          <p:nvPr/>
        </p:nvSpPr>
        <p:spPr>
          <a:xfrm>
            <a:off x="7414260" y="5065038"/>
            <a:ext cx="6422231" cy="2499955"/>
          </a:xfrm>
          <a:prstGeom prst="roundRect">
            <a:avLst>
              <a:gd name="adj" fmla="val 3334"/>
            </a:avLst>
          </a:prstGeom>
          <a:solidFill>
            <a:srgbClr val="FFFFF4"/>
          </a:solidFill>
          <a:ln w="22860">
            <a:solidFill>
              <a:srgbClr val="FFE0CC"/>
            </a:solidFill>
            <a:prstDash val="solid"/>
          </a:ln>
        </p:spPr>
      </p:sp>
      <p:sp>
        <p:nvSpPr>
          <p:cNvPr id="27" name="Shape 20"/>
          <p:cNvSpPr/>
          <p:nvPr/>
        </p:nvSpPr>
        <p:spPr>
          <a:xfrm>
            <a:off x="7635478" y="5286256"/>
            <a:ext cx="595313" cy="595313"/>
          </a:xfrm>
          <a:prstGeom prst="roundRect">
            <a:avLst>
              <a:gd name="adj" fmla="val 15358451"/>
            </a:avLst>
          </a:prstGeom>
          <a:solidFill>
            <a:srgbClr val="FF954F"/>
          </a:solidFill>
          <a:ln/>
        </p:spPr>
      </p:sp>
      <p:pic>
        <p:nvPicPr>
          <p:cNvPr id="2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99189" y="5449848"/>
            <a:ext cx="267891" cy="267891"/>
          </a:xfrm>
          <a:prstGeom prst="rect">
            <a:avLst/>
          </a:prstGeom>
        </p:spPr>
      </p:pic>
      <p:sp>
        <p:nvSpPr>
          <p:cNvPr id="29" name="Text 21"/>
          <p:cNvSpPr/>
          <p:nvPr/>
        </p:nvSpPr>
        <p:spPr>
          <a:xfrm>
            <a:off x="7635478" y="6079927"/>
            <a:ext cx="2852976" cy="370761"/>
          </a:xfrm>
          <a:prstGeom prst="rect">
            <a:avLst/>
          </a:prstGeom>
          <a:noFill/>
          <a:ln/>
        </p:spPr>
        <p:txBody>
          <a:bodyPr wrap="none" lIns="0" tIns="0" rIns="0" bIns="0" rtlCol="0" anchor="t"/>
          <a:lstStyle/>
          <a:p>
            <a:pPr algn="l" indent="0" marL="0">
              <a:lnSpc>
                <a:spcPts val="2900"/>
              </a:lnSpc>
              <a:buNone/>
            </a:pPr>
            <a:r>
              <a:rPr lang="en-US" sz="2200" dirty="0">
                <a:solidFill>
                  <a:srgbClr val="67534F"/>
                </a:solidFill>
                <a:latin typeface="Marcellus" pitchFamily="34" charset="0"/>
                <a:ea typeface="Marcellus" pitchFamily="34" charset="-122"/>
                <a:cs typeface="Marcellus" pitchFamily="34" charset="-120"/>
              </a:rPr>
              <a:t>Targeted Marketing</a:t>
            </a:r>
            <a:endParaRPr lang="en-US" sz="2200" dirty="0"/>
          </a:p>
        </p:txBody>
      </p:sp>
      <p:sp>
        <p:nvSpPr>
          <p:cNvPr id="30" name="Text 22"/>
          <p:cNvSpPr/>
          <p:nvPr/>
        </p:nvSpPr>
        <p:spPr>
          <a:xfrm>
            <a:off x="7635478" y="6569750"/>
            <a:ext cx="5979795" cy="774025"/>
          </a:xfrm>
          <a:prstGeom prst="rect">
            <a:avLst/>
          </a:prstGeom>
          <a:noFill/>
          <a:ln/>
        </p:spPr>
        <p:txBody>
          <a:bodyPr wrap="square" lIns="0" tIns="0" rIns="0" bIns="0" rtlCol="0" anchor="t"/>
          <a:lstStyle/>
          <a:p>
            <a:pPr algn="l" indent="0" marL="0">
              <a:lnSpc>
                <a:spcPts val="2000"/>
              </a:lnSpc>
              <a:buNone/>
            </a:pPr>
            <a:r>
              <a:rPr lang="en-US" sz="1550" dirty="0">
                <a:solidFill>
                  <a:srgbClr val="67534F"/>
                </a:solidFill>
                <a:latin typeface="Montserrat" pitchFamily="34" charset="0"/>
                <a:ea typeface="Montserrat" pitchFamily="34" charset="-122"/>
                <a:cs typeface="Montserrat" pitchFamily="34" charset="-120"/>
              </a:rPr>
              <a:t>Focus campaigns on Young Adults ($62K revenue) and express-shipping users ($60.48 average spend) for maximum ROI</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2026-02-11T23:36:29Z</dcterms:created>
  <dcterms:modified xsi:type="dcterms:W3CDTF">2026-02-11T23:36:29Z</dcterms:modified>
</cp:coreProperties>
</file>